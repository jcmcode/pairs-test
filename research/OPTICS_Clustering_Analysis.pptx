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OPTICS Clustering for Transient</a:t>
            </a:r>
            <a:br/>
            <a:r>
              <a:t>Correlation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Identifying Short-Term Relationship Formations in Semiconductor Stocks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Hourly Data  |  40 Semiconductor Stocks  |  252 Trading Days  |  ~1,575 Timestamps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07BFF"/>
                </a:solidFill>
              </a:defRPr>
            </a:pPr>
            <a:r>
              <a:t>The Core Question</a:t>
            </a:r>
          </a:p>
          <a:p>
            <a:pPr>
              <a:spcAft>
                <a:spcPts val="400"/>
              </a:spcAft>
              <a:defRPr sz="1800" b="0">
                <a:solidFill>
                  <a:srgbClr val="CCCCCC"/>
                </a:solidFill>
              </a:defRPr>
            </a:pPr>
            <a:r>
              <a:t>Can we detect short-term, event-driven relationships forming between semiconductor stocks</a:t>
            </a:r>
          </a:p>
          <a:p>
            <a:pPr>
              <a:spcAft>
                <a:spcPts val="400"/>
              </a:spcAft>
              <a:defRPr sz="1800" b="0">
                <a:solidFill>
                  <a:srgbClr val="CCCCCC"/>
                </a:solidFill>
              </a:defRPr>
            </a:pPr>
            <a:r>
              <a:t>using unsupervised clustering on hourly data, and can we predict when they will form?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E74C3C"/>
                </a:solidFill>
              </a:defRPr>
            </a:pPr>
            <a:r>
              <a:t>This is NOT Traditional Pairs Trading</a:t>
            </a:r>
          </a:p>
          <a:p>
            <a:pPr>
              <a:spcAft>
                <a:spcPts val="400"/>
              </a:spcAft>
              <a:defRPr sz="1600" b="0">
                <a:solidFill>
                  <a:srgbClr val="CCCCCC"/>
                </a:solidFill>
              </a:defRPr>
            </a:pPr>
            <a:r>
              <a:t>Traditional pairs trading looks for long-term cointegrated pairs with mean reversion.</a:t>
            </a:r>
          </a:p>
          <a:p>
            <a:pPr>
              <a:spcAft>
                <a:spcPts val="400"/>
              </a:spcAft>
              <a:defRPr sz="1600" b="0">
                <a:solidFill>
                  <a:srgbClr val="CCCCCC"/>
                </a:solidFill>
              </a:defRPr>
            </a:pPr>
            <a:r>
              <a:t>We look for transient correlations that form on shorter timeframes (hours to days),</a:t>
            </a:r>
          </a:p>
          <a:p>
            <a:pPr>
              <a:spcAft>
                <a:spcPts val="400"/>
              </a:spcAft>
              <a:defRPr sz="1600" b="0">
                <a:solidFill>
                  <a:srgbClr val="CCCCCC"/>
                </a:solidFill>
              </a:defRPr>
            </a:pPr>
            <a:r>
              <a:t>often driven by news events, earnings, or sector-wide market conditions.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00C97B"/>
                </a:solidFill>
              </a:defRPr>
            </a:pPr>
            <a:r>
              <a:t>Three-Phase Research Agenda</a:t>
            </a:r>
          </a:p>
          <a:p>
            <a:pPr>
              <a:spcAft>
                <a:spcPts val="400"/>
              </a:spcAft>
              <a:defRPr sz="1600" b="0">
                <a:solidFill>
                  <a:srgbClr val="CCCCCC"/>
                </a:solidFill>
              </a:defRPr>
            </a:pPr>
            <a:r>
              <a:t>1. DETECT  —  Use OPTICS clustering to find when two stocks start behaving similarly</a:t>
            </a:r>
          </a:p>
          <a:p>
            <a:pPr>
              <a:spcAft>
                <a:spcPts val="400"/>
              </a:spcAft>
              <a:defRPr sz="1600" b="0">
                <a:solidFill>
                  <a:srgbClr val="CCCCCC"/>
                </a:solidFill>
              </a:defRPr>
            </a:pPr>
            <a:r>
              <a:t>2. VALIDATE  —  Test whether the detected relationship is real and tradeable (post-detection persistence)</a:t>
            </a:r>
          </a:p>
          <a:p>
            <a:pPr>
              <a:spcAft>
                <a:spcPts val="400"/>
              </a:spcAft>
              <a:defRPr sz="1600" b="0">
                <a:solidFill>
                  <a:srgbClr val="CCCCCC"/>
                </a:solidFill>
              </a:defRPr>
            </a:pPr>
            <a:r>
              <a:t>3. PREDICT  —  Identify what features preceded formations, build a model to forecast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WHY OPTICS CLUSTERING?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383280" cy="43891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</a:defRPr>
            </a:pPr>
            <a:r>
              <a:t>KMeans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Requires pre-specifying K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Assumes spherical clusters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Forces every stock into a cluster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Poor at transient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280160"/>
            <a:ext cx="3383280" cy="43891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39C12"/>
                </a:solidFill>
              </a:defRPr>
            </a:pPr>
            <a:r>
              <a:t>DBSCAN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1031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Single density threshold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Can detect noise (cluster -1)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Struggles with variable density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One global epsilon parameter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80160"/>
            <a:ext cx="3383280" cy="43891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C97B"/>
                </a:solidFill>
              </a:defRPr>
            </a:pPr>
            <a:r>
              <a:t>OPTICS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No fixed number of clusters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Handles variable-density clusters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Detects noise automatically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Best for transient formations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Clusters form and dissolve naturally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OPTICS parameters: min_samples=3, xi=0.05, min_cluster_size=3  |  Sensitivity tested across 5 configs  |  Results stable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&amp; STOCK UNIVERSE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46888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STOCKS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Semiconductor universe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80160"/>
            <a:ext cx="246888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INTERVAL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Intraday granularity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280160"/>
            <a:ext cx="246888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252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Mar 2025 - Feb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46888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TIMESTAMPS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1,575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Valid hourly snapshots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175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7BFF"/>
                </a:solidFill>
              </a:defRPr>
            </a:pPr>
            <a:r>
              <a:t>Stock Categories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C97B"/>
                </a:solidFill>
              </a:defRPr>
            </a:pPr>
            <a:r>
              <a:t>Megacap Leaders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NVDA, TSM, AVGO, AMD, INTC, MU, TXN, QCOM, ADI, MCHP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C97B"/>
                </a:solidFill>
              </a:defRPr>
            </a:pPr>
            <a:r>
              <a:t>Equipment &amp; Manufacturing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ASML, AMAT, LRCX, KLAC, TER, ENTG, NVMI, TOELY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C97B"/>
                </a:solidFill>
              </a:defRPr>
            </a:pPr>
            <a:r>
              <a:t>Specialized &amp; Analog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ON, NXPI, STM, LSCC, MPWR, QRVO, SWKS, ALAB, CRDO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C97B"/>
                </a:solidFill>
              </a:defRPr>
            </a:pPr>
            <a:r>
              <a:t>IP, Design Software, Memory, Emerging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ARM, SNPS, CDNS, CEVA, WDC, STX, GFS, MRVL, MTSI, POWI, etc.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175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7BFF"/>
                </a:solidFill>
              </a:defRPr>
            </a:pPr>
            <a:r>
              <a:t>Data Processing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C97B"/>
                </a:solidFill>
              </a:defRPr>
            </a:pPr>
            <a:r>
              <a:t>Forward Fill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Market-hours-aware only (within same trading day)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No fill across overnight or weekend gaps to avoid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creating false correlations during non-trading hours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C97B"/>
                </a:solidFill>
              </a:defRPr>
            </a:pPr>
            <a:r>
              <a:t>Benchmark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S&amp;P 500 (^GSPC) for market beta calculation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Sector return = equal-weighted mean of all stocks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NaN-aware averaging (skipna=True, drop all-NaN cols)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212080" cy="22860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</a:defRPr>
            </a:pPr>
            <a:r>
              <a:t>SHORT-TERM (50h window)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Vol_Short  —  Rolling standard deviation of returns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Beta_SPX_Short  —  Market sensitivity (rolling cov/var)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Beta_Sector_Short  —  Sector coupling strength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59" y="1188720"/>
            <a:ext cx="5212080" cy="22860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39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</a:defRPr>
            </a:pPr>
            <a:r>
              <a:t>MEDIUM-TERM (147h window)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17373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Vol_Medium  —  Baseline volatility context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Beta_SPX_Medium  —  Longer-term market sensitivity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Beta_Sector_Medium  —  Stable sector relationship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5212080" cy="22860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REGIME SHIFT INDICATORS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79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Vol_Regime_Shift  —  (Vol_Short - Vol_Medium) / Vol_Medium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Beta_SPX_Regime_Shift  —  Beta_SPX_Short - Beta_SPX_Medium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Beta_Sector_Regime_Shift  —  Beta_Sector_Short - Beta_Sector_Medium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→ Detects when current behavior DIVERGES from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3749039"/>
            <a:ext cx="5212080" cy="22860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39" y="38404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INSTANTANEOUS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4297679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RSI (70-period)  —  Calibrated for hourly data (~2 trading weeks)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Momentum_5H  —  5-period return (short-term direction)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•  Returns  —  Hourly pct_change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9 features clustered per timestamp  |  StandardScaler normalization  |  PCA (90% variance retained, avg 92.8%)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CLUSTERING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560320" cy="22860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20" y="14173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At each hourly timestamp,</a:t>
            </a:r>
            <a:br/>
            <a:r>
              <a:t>extract 9 features for</a:t>
            </a:r>
            <a:br/>
            <a:r>
              <a:t>all 40 stocks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103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7BFF"/>
                </a:solidFill>
              </a:defRPr>
            </a:pPr>
            <a: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280160"/>
            <a:ext cx="2560320" cy="22860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14173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SCALE + PCA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14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StandardScaler normalization</a:t>
            </a:r>
            <a:br/>
            <a:r>
              <a:t>then PCA to 90% variance</a:t>
            </a:r>
            <a:br/>
            <a:r>
              <a:t>(avg 92.8% retained)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03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7BFF"/>
                </a:solidFill>
              </a:defRPr>
            </a:pPr>
            <a: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560320" cy="22860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78040" y="14173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14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Cluster stocks by behavior</a:t>
            </a:r>
            <a:br/>
            <a:r>
              <a:t>min_samples=3, xi=0.05</a:t>
            </a:r>
            <a:br/>
            <a:r>
              <a:t>Detects noise (cluster -1)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103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7BFF"/>
                </a:solidFill>
              </a:defRPr>
            </a:pPr>
            <a: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280160"/>
            <a:ext cx="2560320" cy="22860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0" y="14173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QUALITY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514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Skip if: no clusters found,</a:t>
            </a:r>
            <a:br/>
            <a:r>
              <a:t>&gt;75% noise, or</a:t>
            </a:r>
            <a:br/>
            <a:r>
              <a:t>over-fragmented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246888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TIMESTAMPS PROCESSED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1,575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Hourly snapshots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931920"/>
            <a:ext cx="246888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VALID WINDOWS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89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7B"/>
                </a:solidFill>
              </a:defRPr>
            </a:pPr>
            <a:r>
              <a:t>1,368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86.9% pass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931920"/>
            <a:ext cx="246888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AVG CLUSTERS/HOUR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89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Distinct behavioral groups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931920"/>
            <a:ext cx="246888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NOISE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389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58.1%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Expected with 40 stocks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Repeated for every valid hourly timestamp across the full year, producing 54,707 stock-cluster assignments.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Pairs that appear in the same cluster at the same timestamp = co-clustering event.</a:t>
            </a:r>
          </a:p>
          <a:p>
            <a:pPr>
              <a:spcAft>
                <a:spcPts val="400"/>
              </a:spcAft>
              <a:defRPr sz="1400" b="0">
                <a:solidFill>
                  <a:srgbClr val="00C97B"/>
                </a:solidFill>
              </a:defRPr>
            </a:pPr>
            <a:r>
              <a:t>777 unique pairs observed co-clustering at least once.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CO-CLUSTERING FREQUENCY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</a:defRPr>
            </a:pPr>
            <a:r>
              <a:t>Most Frequently Co-Clustered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691640"/>
            <a:ext cx="2578608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QRVO - SWKS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16642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</a:defRPr>
            </a:pPr>
            <a:r>
              <a:t>37.6%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194560"/>
            <a:ext cx="2516886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KLAC - LRCX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8646" y="21671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</a:defRPr>
            </a:pPr>
            <a:r>
              <a:t>36.7%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697480"/>
            <a:ext cx="2414016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AMAT - LRCX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</a:defRPr>
            </a:pPr>
            <a:r>
              <a:t>35.2%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3200400"/>
            <a:ext cx="2194560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54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AMAT - KLAC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72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</a:defRPr>
            </a:pPr>
            <a:r>
              <a:t>32.0%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703320"/>
            <a:ext cx="2002536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ADI - NXPI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3675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</a:defRPr>
            </a:pPr>
            <a:r>
              <a:t>29.2%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4206240"/>
            <a:ext cx="1892808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ADI - TXN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4178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</a:defRPr>
            </a:pPr>
            <a:r>
              <a:t>27.6%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4709160"/>
            <a:ext cx="1591056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NXPI - TXN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2816" y="4681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</a:defRPr>
            </a:pPr>
            <a:r>
              <a:t>23.2%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5212080"/>
            <a:ext cx="1591056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66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ADI - SWKS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2816" y="51846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</a:defRPr>
            </a:pPr>
            <a:r>
              <a:t>23.2%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</a:defRPr>
            </a:pPr>
            <a:r>
              <a:t>Frequency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777 unique pairs observed co-clustering</a:t>
            </a:r>
          </a:p>
          <a:p>
            <a:pPr>
              <a:spcAft>
                <a:spcPts val="400"/>
              </a:spcAft>
              <a:defRPr sz="8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00C97B"/>
                </a:solidFill>
              </a:defRPr>
            </a:pPr>
            <a:r>
              <a:t>&gt;30% frequency:     4 pairs   (stable candidates)</a:t>
            </a:r>
          </a:p>
          <a:p>
            <a:pPr>
              <a:spcAft>
                <a:spcPts val="400"/>
              </a:spcAft>
              <a:defRPr sz="1400" b="0">
                <a:solidFill>
                  <a:srgbClr val="007BFF"/>
                </a:solidFill>
              </a:defRPr>
            </a:pPr>
            <a:r>
              <a:t>10-30% frequency:  89 pairs   (recurring relationships)</a:t>
            </a:r>
          </a:p>
          <a:p>
            <a:pPr>
              <a:spcAft>
                <a:spcPts val="400"/>
              </a:spcAft>
              <a:defRPr sz="1400" b="0">
                <a:solidFill>
                  <a:srgbClr val="F39C12"/>
                </a:solidFill>
              </a:defRPr>
            </a:pPr>
            <a:r>
              <a:t>&lt;10% frequency:    685 pairs   (rare/transient events)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39C12"/>
                </a:solidFill>
              </a:defRPr>
            </a:pPr>
            <a:r>
              <a:t>Key Insight: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The vast majority of co-clustering is rare and transient.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Only 4 pairs show persistent co-clustering (&gt;30%).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These are likely fundamentally linked (same sub-sector).</a:t>
            </a:r>
          </a:p>
          <a:p>
            <a:pPr>
              <a:spcAft>
                <a:spcPts val="400"/>
              </a:spcAft>
              <a:defRPr sz="8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The remaining 773 pairs represent event-driven,</a:t>
            </a:r>
          </a:p>
          <a:p>
            <a:pPr>
              <a:spcAft>
                <a:spcPts val="400"/>
              </a:spcAft>
              <a:defRPr sz="1400" b="0">
                <a:solidFill>
                  <a:srgbClr val="007BFF"/>
                </a:solidFill>
              </a:defRPr>
            </a:pPr>
            <a:r>
              <a:t>transient relationships — the primary target.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FORMATION &amp; DISSOLUTION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CCCCCC"/>
                </a:solidFill>
              </a:defRPr>
            </a:pPr>
            <a:r>
              <a:t>Instead of just counting frequency, we detect the MOMENTS when pairs start and stop co-clustering.</a:t>
            </a:r>
          </a:p>
          <a:p>
            <a:pPr>
              <a:spcAft>
                <a:spcPts val="400"/>
              </a:spcAft>
              <a:defRPr sz="1600" b="0">
                <a:solidFill>
                  <a:srgbClr val="CCCCCC"/>
                </a:solidFill>
              </a:defRPr>
            </a:pPr>
            <a:r>
              <a:t>A formation event = transition from NOT co-clustering to co-clustering (after a 5-hour minimum gap).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3383280" cy="14630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FORMATION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7B"/>
                </a:solidFill>
              </a:defRPr>
            </a:pPr>
            <a:r>
              <a:t>19,975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Moments when pairs START co-clustering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377440"/>
            <a:ext cx="3383280" cy="14630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DISSOLUTION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74C3C"/>
                </a:solidFill>
              </a:defRPr>
            </a:pPr>
            <a:r>
              <a:t>20,006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Moments when pairs STOP co-clustering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377440"/>
            <a:ext cx="3383280" cy="14630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COMPLETE EPISODES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</a:defRPr>
            </a:pPr>
            <a:r>
              <a:t>20,006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Full formation-to-dissolution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</a:defRPr>
            </a:pPr>
            <a:r>
              <a:t>Cluster Duration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Mean duration:    4.6 hours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Median duration:  1.0 hour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Max duration:     151 hours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Std deviation:    7.1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</a:defRPr>
            </a:pPr>
            <a:r>
              <a:t>Duration Buckets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4709160"/>
            <a:ext cx="3244291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Short-lived (≤10h)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22531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</a:defRPr>
            </a:pPr>
            <a:r>
              <a:t>88.7%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5257799"/>
            <a:ext cx="405993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5212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Medium (10-50h)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4233" y="52120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</a:defRPr>
            </a:pPr>
            <a:r>
              <a:t>11.1%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5806440"/>
            <a:ext cx="9144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Long-lived (&gt;50h)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760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</a:defRPr>
            </a:pPr>
            <a:r>
              <a:t>0.3%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</a:defRPr>
            </a:pPr>
            <a:r>
              <a:t>Conclusion: The vast majority of cluster episodes are short-lived (≤10 hours), confirming the transient nature of these relationships.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PAIR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474720" cy="53035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97B"/>
                </a:solidFill>
              </a:defRPr>
            </a:pPr>
            <a:r>
              <a:t>TRANSIENT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761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Multiple short-lived formations</a:t>
            </a:r>
            <a:br/>
            <a:r>
              <a:t>(≥3 events, avg duration ≤30h)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566160"/>
            <a:ext cx="2560320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STX-WDC (68 formations, 5.3h avg)</a:t>
            </a:r>
            <a:br/>
            <a:r>
              <a:t>NXPI-ON (58 formations, 6.2h avg)</a:t>
            </a:r>
            <a:br/>
            <a:r>
              <a:t>AMAT-TSM (57 formations, 6.4h avg)</a:t>
            </a:r>
            <a:br/>
            <a:r>
              <a:t>NXPI-TXN (56 formations, 8.6h avg)</a:t>
            </a:r>
            <a:br/>
            <a:r>
              <a:t>ADI-TXN (55 formations, 11.4h avg)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3474720" cy="53035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BFF"/>
                </a:solidFill>
              </a:defRPr>
            </a:pPr>
            <a:r>
              <a:t>STABLE CANDIDATES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 pairs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Consistently co-clustered (&gt;30%)</a:t>
            </a:r>
            <a:br/>
            <a:r>
              <a:t>Potential cointegration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566160"/>
            <a:ext cx="256032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749039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QRVO-SWKS (37.6% freq, 19.5h avg)</a:t>
            </a:r>
            <a:br/>
            <a:r>
              <a:t>KLAC-LRCX (36.7% freq, 17.7h avg)</a:t>
            </a:r>
            <a:br/>
            <a:r>
              <a:t>AMAT-LRCX (35.2% freq, 15.1h avg)</a:t>
            </a:r>
            <a:br/>
            <a:r>
              <a:t>AMAT-KLAC (32.0% freq, 13.9h avg)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474720" cy="53035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39C12"/>
                </a:solidFill>
              </a:defRPr>
            </a:pPr>
            <a:r>
              <a:t>SPORADIC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12 pairs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Very few formation events (≤2)</a:t>
            </a:r>
            <a:br/>
            <a:r>
              <a:t>Insufficient data to classify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3566160"/>
            <a:ext cx="256032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749039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Pairs that co-clustered only</a:t>
            </a:r>
            <a:br/>
            <a:r>
              <a:t>once or twice across the</a:t>
            </a:r>
            <a:br/>
            <a:r>
              <a:t>entire year. Not actionable.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VALIDATION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C97B"/>
                </a:solidFill>
              </a:defRPr>
            </a:pPr>
            <a:r>
              <a:t>Forward-Looking Validation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When a co-clustering event is detected at time T,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we test whether the relationship persists AFTER T.</a:t>
            </a:r>
          </a:p>
          <a:p>
            <a:pPr>
              <a:spcAft>
                <a:spcPts val="400"/>
              </a:spcAft>
              <a:defRPr sz="8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This avoids circularity: the clustering already told us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the stocks were similar at T. The real question is:</a:t>
            </a:r>
          </a:p>
          <a:p>
            <a:pPr>
              <a:spcAft>
                <a:spcPts val="400"/>
              </a:spcAft>
              <a:defRPr sz="1600" b="1">
                <a:solidFill>
                  <a:srgbClr val="007BFF"/>
                </a:solidFill>
              </a:defRPr>
            </a:pPr>
            <a:r>
              <a:t>"Did the relationship continue to hold?"</a:t>
            </a:r>
          </a:p>
          <a:p>
            <a:pPr>
              <a:spcAft>
                <a:spcPts val="400"/>
              </a:spcAft>
              <a:defRPr sz="10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007BFF"/>
                </a:solidFill>
              </a:defRPr>
            </a:pPr>
            <a:r>
              <a:t>Test Windows (observation-based)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Short:   50 trading hours forward  (~1 week)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Medium:  147 trading hours forward  (~3 weeks)</a:t>
            </a:r>
          </a:p>
          <a:p>
            <a:pPr>
              <a:spcAft>
                <a:spcPts val="400"/>
              </a:spcAft>
              <a:defRPr sz="10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007BFF"/>
                </a:solidFill>
              </a:defRPr>
            </a:pPr>
            <a:r>
              <a:t>Formation Events as Input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We test at formation timestamps (when pairs START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co-clustering), not at every co-clustering timestamp.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This focuses on the actionable question:</a:t>
            </a:r>
          </a:p>
          <a:p>
            <a:pPr>
              <a:spcAft>
                <a:spcPts val="400"/>
              </a:spcAft>
              <a:defRPr sz="1600" b="1">
                <a:solidFill>
                  <a:srgbClr val="00C97B"/>
                </a:solidFill>
              </a:defRPr>
            </a:pPr>
            <a:r>
              <a:t>"We just detected a new relationship — will it last?"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7BFF"/>
                </a:solidFill>
              </a:defRPr>
            </a:pPr>
            <a:r>
              <a:t>Four Validation Methods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1. Returns Correlation (threshold &gt; 0.50)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   Pearson correlation on pct_change() returns,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   not raw price levels (avoids spurious correlation).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2. Spread Stability (threshold &lt; 0.05)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   Spread volatility normalized by average price level.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   0.05 = spread fluctuates by 5% of asset price.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3. Cointegration (p &lt; 0.05, 100+ obs required)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   Engle-Granger test; only applied on medium window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   (short window has too few observations).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4. Mean Reversion (half-life &lt; 50 hours)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   AR(1) model on the spread. Tests whether the spread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   reverts to its mean (required for tradeable pairs).</a:t>
            </a:r>
          </a:p>
          <a:p>
            <a:pPr>
              <a:spcAft>
                <a:spcPts val="400"/>
              </a:spcAft>
              <a:defRPr sz="8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C97B"/>
                </a:solidFill>
              </a:defRPr>
            </a:pPr>
            <a:r>
              <a:t>Overall Pass = Correlation AND Spread Stability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VALIDATION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10312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TESTS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50 pairs x 20 events x 2 windows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188720"/>
            <a:ext cx="210312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TRADEABLE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45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7B"/>
                </a:solidFill>
              </a:defRPr>
            </a:pPr>
            <a:r>
              <a:t>1,379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69.0% success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188720"/>
            <a:ext cx="210312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325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HIGH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645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</a:defRPr>
            </a:pPr>
            <a:r>
              <a:t>98.2%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≥3 methods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188720"/>
            <a:ext cx="210312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325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AVG HALF-LIFE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645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10.6h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Median: 6.6 hours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188720"/>
            <a:ext cx="210312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325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</a:defRPr>
            </a:pPr>
            <a:r>
              <a:t>AVG CORR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1645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7B"/>
                </a:solidFill>
              </a:defRPr>
            </a:pPr>
            <a:r>
              <a:t>0.80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</a:defRPr>
            </a:pPr>
            <a:r>
              <a:t>Returns-based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</a:defRPr>
            </a:pPr>
            <a:r>
              <a:t>Method Pass Rates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337560"/>
            <a:ext cx="2615915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Returns Correlation (&gt;0.50)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0635" y="3291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</a:defRPr>
            </a:pPr>
            <a:r>
              <a:t>89.4%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886200"/>
            <a:ext cx="2092147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Spread Stability (&lt;5% of price)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6867" y="3840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</a:defRPr>
            </a:pPr>
            <a:r>
              <a:t>71.5%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434840"/>
            <a:ext cx="2814888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389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Mean Reversion (half-life &lt;50h)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9608" y="4389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</a:defRPr>
            </a:pPr>
            <a:r>
              <a:t>96.2%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983480"/>
            <a:ext cx="17849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937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Cointegration (p&lt;0.05, med only)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3210" y="4937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6.1%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5532120"/>
            <a:ext cx="2018995" cy="320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486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OVERALL (Corr + Spread)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93715" y="5486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</a:defRPr>
            </a:pPr>
            <a:r>
              <a:t>69.0%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</a:defRPr>
            </a:pPr>
            <a:r>
              <a:t>Window Comparison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291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C97B"/>
                </a:solidFill>
              </a:defRPr>
            </a:pPr>
            <a:r>
              <a:t>Short Window (50 observations)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  679 opportunities  |  67.9% success rate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  Avg correlation: 0.747  |  Avg spread CV: 1.4%</a:t>
            </a:r>
          </a:p>
          <a:p>
            <a:pPr>
              <a:spcAft>
                <a:spcPts val="400"/>
              </a:spcAft>
              <a:defRPr sz="8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07BFF"/>
                </a:solidFill>
              </a:defRPr>
            </a:pPr>
            <a:r>
              <a:t>Medium Window (147 observations)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  700 opportunities  |  70.0% success rate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  Avg correlation: 0.713  |  Avg spread CV: 2.6%</a:t>
            </a:r>
          </a:p>
          <a:p>
            <a:pPr>
              <a:spcAft>
                <a:spcPts val="400"/>
              </a:spcAft>
              <a:defRPr sz="10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Both windows produce similar results, indicating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relationships persist across both timeframes.</a:t>
            </a:r>
          </a:p>
          <a:p>
            <a:pPr>
              <a:spcAft>
                <a:spcPts val="400"/>
              </a:spcAft>
              <a:defRPr sz="1400" b="0">
                <a:solidFill>
                  <a:srgbClr val="00C97B"/>
                </a:solidFill>
              </a:defRPr>
            </a:pPr>
            <a:r>
              <a:t>The medium window slightly outperforms on success rate.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</a:defRPr>
            </a:pPr>
            <a:r>
              <a:t>Quality: Spread CV range 0.1% - 4.9% of price  |  Correlation range 0.50 - 0.99  |  R² range 0.50 - 0.99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TOP TRADEABLE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280160"/>
            <a:ext cx="7772400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Avg Corr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280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Avg Spread 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691640"/>
            <a:ext cx="7772400" cy="3200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ADI - TXN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691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691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</a:defRPr>
            </a:pPr>
            <a:r>
              <a:t>92.5%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0.898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691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011680"/>
            <a:ext cx="77724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CDNS - SNPS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</a:defRPr>
            </a:pPr>
            <a:r>
              <a:t>92.5%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0.873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2331720"/>
            <a:ext cx="7772400" cy="3200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GFS - NXPI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331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2331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</a:defRPr>
            </a:pPr>
            <a:r>
              <a:t>90.0%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0.860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2651759"/>
            <a:ext cx="77724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26517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STX - WDC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265175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265175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26517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97B"/>
                </a:solidFill>
              </a:defRPr>
            </a:pPr>
            <a:r>
              <a:t>90.0%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6517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6517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2.2%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2971799"/>
            <a:ext cx="7772400" cy="3200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29717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ADI - GFS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297179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297179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297179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87.5%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297179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0.824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29717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2.5%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7280" y="3291840"/>
            <a:ext cx="77724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ADI - NXPI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3291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3291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87.5%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0.845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3291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1.3%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7280" y="3611880"/>
            <a:ext cx="7772400" cy="3200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8872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ADI - MCHP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0" y="3611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611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85.0%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3611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0.827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3611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1.9%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7280" y="3931920"/>
            <a:ext cx="77724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ADI - AMAT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1752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192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632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82.5%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3931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0.717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1.6%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251960"/>
            <a:ext cx="7772400" cy="3200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8872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NXPI - TXN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17520" y="4251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1920" y="4251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46320" y="4251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82.5%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4251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0.843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4251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2.0%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97280" y="4572000"/>
            <a:ext cx="77724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8872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MCHP - 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1752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3192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46320" y="457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82.5%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36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0.804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2.2%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97280" y="4892040"/>
            <a:ext cx="7772400" cy="3200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8872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ADI - LRCX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17520" y="4892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31920" y="4892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6320" y="4892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82.5%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0.784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1.9%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97280" y="5212080"/>
            <a:ext cx="77724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8872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ADI - STM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17520" y="5212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212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46320" y="5212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80.0%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43600" y="5212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0.757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2.6%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97280" y="5532119"/>
            <a:ext cx="7772400" cy="3200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88720" y="55321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AMAT - ASML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17520" y="553211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31920" y="553211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46320" y="55321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80.0%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43600" y="55321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0.780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15200" y="55321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0.6%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97280" y="5852160"/>
            <a:ext cx="77724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88720" y="5852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LRCX - TSM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17520" y="5852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852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46320" y="5852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80.0%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43600" y="5852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0.734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15200" y="5852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0.8%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00C97B"/>
                </a:solidFill>
              </a:defRPr>
            </a:pPr>
            <a:r>
              <a:t>ADI (Analog Devices) appears in 8 of the top 14 pairs — it acts as a "hub" in the semiconductor correlation network.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NXPI and TXN are also frequent participants. Equipment pairs (AMAT-ASML, LRCX-TSM) show tight spread stability.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CORRECTNESS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474720" cy="50292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97B"/>
                </a:solidFill>
              </a:defRPr>
            </a:pPr>
            <a:r>
              <a:t>Random Baseline</a:t>
            </a:r>
            <a:br/>
            <a:r>
              <a:t>(Permutation 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Shuffled cluster labels 100x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to build null distribution.</a:t>
            </a:r>
          </a:p>
          <a:p>
            <a:pPr>
              <a:spcAft>
                <a:spcPts val="400"/>
              </a:spcAft>
              <a:defRPr sz="8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Observed mean freq: 0.0544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Null mean freq:     0.0542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C97B"/>
                </a:solidFill>
              </a:defRPr>
            </a:pPr>
            <a:r>
              <a:t>p-value: 0.000</a:t>
            </a:r>
          </a:p>
          <a:p>
            <a:pPr>
              <a:spcAft>
                <a:spcPts val="400"/>
              </a:spcAft>
              <a:defRPr sz="1300" b="0">
                <a:solidFill>
                  <a:srgbClr val="00C97B"/>
                </a:solidFill>
              </a:defRPr>
            </a:pPr>
            <a:r>
              <a:t>Co-clustering significantly</a:t>
            </a:r>
          </a:p>
          <a:p>
            <a:pPr>
              <a:spcAft>
                <a:spcPts val="400"/>
              </a:spcAft>
              <a:defRPr sz="1300" b="0">
                <a:solidFill>
                  <a:srgbClr val="00C97B"/>
                </a:solidFill>
              </a:defRPr>
            </a:pPr>
            <a:r>
              <a:t>exceeds random chance.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474720" cy="50292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FF"/>
                </a:solidFill>
              </a:defRPr>
            </a:pPr>
            <a:r>
              <a:t>Out-of-Sample</a:t>
            </a:r>
            <a:br/>
            <a:r>
              <a:t>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Split: 67% train / 33% test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Train: Mar-Oct 2025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Test:  Oct 2025-Feb 2026</a:t>
            </a:r>
          </a:p>
          <a:p>
            <a:pPr>
              <a:spcAft>
                <a:spcPts val="400"/>
              </a:spcAft>
              <a:defRPr sz="8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Correlation of co-clustering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frequency (train vs test):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7BFF"/>
                </a:solidFill>
              </a:defRPr>
            </a:pPr>
            <a:r>
              <a:t>r = 0.668 (p = 0.000)</a:t>
            </a:r>
          </a:p>
          <a:p>
            <a:pPr>
              <a:spcAft>
                <a:spcPts val="400"/>
              </a:spcAft>
              <a:defRPr sz="1300" b="0">
                <a:solidFill>
                  <a:srgbClr val="007BFF"/>
                </a:solidFill>
              </a:defRPr>
            </a:pPr>
            <a:r>
              <a:t>Good out-of-sample stability.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474720" cy="50292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9C12"/>
                </a:solidFill>
              </a:defRPr>
            </a:pPr>
            <a:r>
              <a:t>OPTICS Parameter</a:t>
            </a:r>
            <a:br/>
            <a:r>
              <a:t>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Tested 5 parameter configs: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min_samples: 2, 3, 5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xi: 0.03, 0.05, 0.10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</a:defRPr>
            </a:pPr>
            <a:r>
              <a:t>min_cluster_size: 2, 3, 5</a:t>
            </a:r>
          </a:p>
          <a:p>
            <a:pPr>
              <a:spcAft>
                <a:spcPts val="400"/>
              </a:spcAft>
              <a:defRPr sz="8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Avg clusters: 1.4 - 8.5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Noise rate: 43% - 72%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39C12"/>
                </a:solidFill>
              </a:defRPr>
            </a:pPr>
            <a:r>
              <a:t>Reasonably stable results</a:t>
            </a:r>
          </a:p>
          <a:p>
            <a:pPr>
              <a:spcAft>
                <a:spcPts val="400"/>
              </a:spcAft>
              <a:defRPr sz="1300" b="0">
                <a:solidFill>
                  <a:srgbClr val="F39C12"/>
                </a:solidFill>
              </a:defRPr>
            </a:pPr>
            <a:r>
              <a:t>across configurations.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METHODOLOGY CORRECTIONS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Spurious Correlation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BEFORE: Correlation on raw price levels → r &gt; 0.90 just because market trends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</a:defRPr>
            </a:pPr>
            <a:r>
              <a:t>AFTER: Correlation on returns (pct_change) → measures actual co-movement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Spread CV 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BEFORE: CV = std / |mean(spread)| → explodes when spread mean ≈ 0, rejects best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</a:defRPr>
            </a:pPr>
            <a:r>
              <a:t>AFTER: CV = std / avg_price_level → "spread vol as % of stock price", stable 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Forward-Looking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BEFORE: Test data ending at T (circular — confirms what clustering already said)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</a:defRPr>
            </a:pPr>
            <a:r>
              <a:t>AFTER: Test data starting at T (answers "does the relationship persist?")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01752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Feature Column 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BEFORE: Referenced non-existent columns (Rolling_Vol, Beta_SPX) → KeyError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</a:defRPr>
            </a:pPr>
            <a:r>
              <a:t>AFTER: Uses actual features (Vol_Short, Beta_SPX_Short) + regime shift indicators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</a:defRPr>
            </a:pPr>
            <a:r>
              <a:t>RSI 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BEFORE: 14-period RSI on hourly data = only ~2 trading days, extremely noisy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</a:defRPr>
            </a:pPr>
            <a:r>
              <a:t>AFTER: 70-period RSI = ~2 trading weeks, comparable to original daily intent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84632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</a:defRPr>
            </a:pPr>
            <a:r>
              <a:t>Cointegration Sample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BEFORE: Required only 20 observations → statistically unreliable, random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</a:defRPr>
            </a:pPr>
            <a:r>
              <a:t>AFTER: Requires 100+ observations → only 6.1% pass (properly discriminating)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PREDICTION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C97B"/>
                </a:solidFill>
              </a:defRPr>
            </a:pPr>
            <a:r>
              <a:t>Goal: Predict Formation Events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CCCCCC"/>
                </a:solidFill>
              </a:defRPr>
            </a:pPr>
            <a:r>
              <a:t>Given features at time T-1, predict whether</a:t>
            </a:r>
          </a:p>
          <a:p>
            <a:pPr>
              <a:spcAft>
                <a:spcPts val="400"/>
              </a:spcAft>
              <a:defRPr sz="1600" b="0">
                <a:solidFill>
                  <a:srgbClr val="CCCCCC"/>
                </a:solidFill>
              </a:defRPr>
            </a:pPr>
            <a:r>
              <a:t>a cluster formation will occur at time T.</a:t>
            </a:r>
          </a:p>
          <a:p>
            <a:pPr>
              <a:spcAft>
                <a:spcPts val="400"/>
              </a:spcAft>
              <a:defRPr sz="10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007BFF"/>
                </a:solidFill>
              </a:defRPr>
            </a:pPr>
            <a:r>
              <a:t>Feature Construction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For each pair at each timestamp: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Average features of both stocks at T-1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Absolute difference features at T-1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Includes all 9 clustering features + diffs = 18 features</a:t>
            </a:r>
          </a:p>
          <a:p>
            <a:pPr>
              <a:spcAft>
                <a:spcPts val="400"/>
              </a:spcAft>
              <a:defRPr sz="10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007BFF"/>
                </a:solidFill>
              </a:defRPr>
            </a:pPr>
            <a:r>
              <a:t>Label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Binary: did a formation event happen at T?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(Highly imbalanced — formations are rare events)</a:t>
            </a:r>
          </a:p>
          <a:p>
            <a:pPr>
              <a:spcAft>
                <a:spcPts val="400"/>
              </a:spcAft>
              <a:defRPr sz="10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007BFF"/>
                </a:solidFill>
              </a:defRPr>
            </a:pPr>
            <a:r>
              <a:t>Model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GradientBoostingClassifier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  n_estimators=100, max_depth=4, subsample=0.8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</a:defRPr>
            </a:pPr>
            <a:r>
              <a:t>  Handles class imbalance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7BFF"/>
                </a:solidFill>
              </a:defRPr>
            </a:pPr>
            <a:r>
              <a:t>Factor Attribution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Before building the predictive model, we compare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feature distributions at formation events vs.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non-formation timestamps.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This reveals which features have unusual values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when relationships form — the "why" behind formations.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007BFF"/>
                </a:solidFill>
              </a:defRPr>
            </a:pPr>
            <a:r>
              <a:t>Time-Series Cross-Validation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5-fold TimeSeriesSplit ensures: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Training always precedes test in time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No look-ahead bias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•  Increasing training set per fold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</a:defRPr>
            </a:pPr>
            <a:r>
              <a:t>Evaluation via ROC-AUC:</a:t>
            </a:r>
          </a:p>
          <a:p>
            <a:pPr>
              <a:spcAft>
                <a:spcPts val="400"/>
              </a:spcAft>
              <a:defRPr sz="1400" b="0">
                <a:solidFill>
                  <a:srgbClr val="00C97B"/>
                </a:solidFill>
              </a:defRPr>
            </a:pPr>
            <a:r>
              <a:t>  AUC &gt; 0.55 = predictive signal exists</a:t>
            </a:r>
          </a:p>
          <a:p>
            <a:pPr>
              <a:spcAft>
                <a:spcPts val="400"/>
              </a:spcAft>
              <a:defRPr sz="1400" b="0">
                <a:solidFill>
                  <a:srgbClr val="E74C3C"/>
                </a:solidFill>
              </a:defRPr>
            </a:pPr>
            <a:r>
              <a:t>  AUC = 0.50 = random chance (no signal)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888899"/>
                </a:solidFill>
              </a:defRPr>
            </a:pPr>
            <a:r>
              <a:t>Separate notebook: optics-prediction.ipynb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303520" cy="16916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234440"/>
            <a:ext cx="411480" cy="41148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34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</a:defRPr>
            </a:pPr>
            <a:r>
              <a:t>Transient Relationships Are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88.7% of cluster episodes last ≤10 hours (median: 1 hour). These are genuinely short-lived, event-driven relationships — not noise. The permutation test confirms co-clustering exceeds random chance (p &lt; 0.001).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303520" cy="16916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55080" y="1234440"/>
            <a:ext cx="411480" cy="41148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34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</a:defRPr>
            </a:pPr>
            <a:r>
              <a:t>Relationships Persist After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69% of formation events show continued correlation over the next 50-147 trading hours. Mean returns correlation 0.80, mean spread volatility just 1.7% of price. These are actionable signals, not artifacts.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5303520" cy="16916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063240"/>
            <a:ext cx="411480" cy="4114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63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</a:defRPr>
            </a:pPr>
            <a:r>
              <a:t>Patterns Are Stable Out-of-Sample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04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Training/test correlation of co-clustering frequency = 0.668 (p = 0.000). The same pairs that co-cluster in the first 8 months continue in the last 4. This is not overfitting.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303520" cy="16916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3063240"/>
            <a:ext cx="411480" cy="4114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63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</a:defRPr>
            </a:pPr>
            <a:r>
              <a:t>ADI Is the Correlation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204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Analog Devices appears in 8 of the top 14 tradeable pairs. It acts as a connector between sub-sectors: equipment (AMAT, LRCX), analog (TXN, NXPI, MCHP), and foundry (GFS, TSM).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5303520" cy="16916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892040"/>
            <a:ext cx="411480" cy="4114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920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</a:defRPr>
            </a:pPr>
            <a:r>
              <a:t>4 Pairs Show Stable Cointegration Potential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492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QRVO-SWKS, KLAC-LRCX, AMAT-LRCX, AMAT-KLAC co-cluster 32-38% of the time with average durations of 14-20 hours. These warrant deeper cointegration analysis for longer-term strategies.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754880"/>
            <a:ext cx="5303520" cy="16916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5080" y="4892040"/>
            <a:ext cx="411480" cy="4114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8920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</a:defRPr>
            </a:pPr>
            <a:r>
              <a:t>Cointegration Is Rare on Hourly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3492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Only 6.1% of medium-window tests pass the Engle-Granger cointegration test at p &lt; 0.05. This confirms these relationships are transient correlations, not stable equilibrium pairs.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</a:defRPr>
            </a:pPr>
            <a:r>
              <a:t>Run Prediction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Execute optics-prediction.ipynb to get factor attribution results and AUC scores. This will reveal which features are most predictive of formation events and whether the model beats random chance.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</a:defRPr>
            </a:pPr>
            <a:r>
              <a:t>News/Event Overlay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Correlate formation timestamps with actual news events (earnings, analyst upgrades, sector news). This could explain WHY formations happen and improve feature engineering.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</a:defRPr>
            </a:pPr>
            <a:r>
              <a:t>Expand Feature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Add order flow data, options implied volatility, cross-asset signals (VIX, rates), and intraday volume profiles. Regime shift features showed promise — more context features may improve predictions.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063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Backtest Trading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Using forward-validated tradeable pairs, simulate entry at formation detection, exit at dissolution or z-score reversion. Assess Sharpe ratio, drawdowns, and capacity.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Address Survivorship 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Current universe is 40 surviving stocks. Adding delisted/acquired stocks from the analysis period would give unbiased results.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754880"/>
            <a:ext cx="530352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Real-Time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Move from batch analysis to streaming: detect formations in real-time as new hourly bars arrive, score with the predictive model, and generate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