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4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Clustering-Driven Pair Discovery</a:t>
            </a:r>
            <a:br/>
            <a:r>
              <a:t>in Semiconductor Equities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4C8DC"/>
                </a:solidFill>
                <a:latin typeface="Calibri"/>
              </a:defRPr>
            </a:pPr>
            <a:r>
              <a:t>Using Unsupervised Learning to Identify Tradeable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029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ABD00"/>
                </a:solidFill>
                <a:latin typeface="Calibri"/>
              </a:defRPr>
            </a:pPr>
            <a:r>
              <a:t>Queen's Quant Club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2452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C3C3C"/>
                </a:solidFill>
                <a:latin typeface="Calibri"/>
              </a:defRPr>
            </a:pPr>
            <a:r>
              <a:t>1.  Motivation: Why clustering for pair discovery?</a:t>
            </a:r>
          </a:p>
          <a:p>
            <a:pPr>
              <a:spcAft>
                <a:spcPts val="600"/>
              </a:spcAft>
              <a:defRPr sz="2000">
                <a:solidFill>
                  <a:srgbClr val="3C3C3C"/>
                </a:solidFill>
                <a:latin typeface="Calibri"/>
              </a:defRPr>
            </a:pPr>
            <a:r>
              <a:t>2.  Methodology: Features, algorithms, pipeline</a:t>
            </a:r>
          </a:p>
          <a:p>
            <a:pPr>
              <a:spcAft>
                <a:spcPts val="600"/>
              </a:spcAft>
              <a:defRPr sz="2000">
                <a:solidFill>
                  <a:srgbClr val="3C3C3C"/>
                </a:solidFill>
                <a:latin typeface="Calibri"/>
              </a:defRPr>
            </a:pPr>
            <a:r>
              <a:t>3.  Pair Discovery: Consensus across 3 algorithms</a:t>
            </a:r>
          </a:p>
          <a:p>
            <a:pPr>
              <a:spcAft>
                <a:spcPts val="600"/>
              </a:spcAft>
              <a:defRPr sz="2000">
                <a:solidFill>
                  <a:srgbClr val="3C3C3C"/>
                </a:solidFill>
                <a:latin typeface="Calibri"/>
              </a:defRPr>
            </a:pPr>
            <a:r>
              <a:t>4.  Validation: Classical pairs trading tests</a:t>
            </a:r>
          </a:p>
          <a:p>
            <a:pPr>
              <a:spcAft>
                <a:spcPts val="600"/>
              </a:spcAft>
              <a:defRPr sz="2000">
                <a:solidFill>
                  <a:srgbClr val="3C3C3C"/>
                </a:solidFill>
                <a:latin typeface="Calibri"/>
              </a:defRPr>
            </a:pPr>
            <a:r>
              <a:t>5.  Out-of-Sample Results: Honest backtesting</a:t>
            </a:r>
          </a:p>
          <a:p>
            <a:pPr>
              <a:spcAft>
                <a:spcPts val="600"/>
              </a:spcAft>
              <a:defRPr sz="2000">
                <a:solidFill>
                  <a:srgbClr val="3C3C3C"/>
                </a:solidFill>
                <a:latin typeface="Calibri"/>
              </a:defRPr>
            </a:pPr>
            <a:r>
              <a:t>6.  Key Insights &amp; Lessons Learned</a:t>
            </a:r>
          </a:p>
          <a:p>
            <a:pPr>
              <a:spcAft>
                <a:spcPts val="600"/>
              </a:spcAft>
              <a:defRPr sz="2000">
                <a:solidFill>
                  <a:srgbClr val="3C3C3C"/>
                </a:solidFill>
                <a:latin typeface="Calibri"/>
              </a:defRPr>
            </a:pPr>
            <a:r>
              <a:t>7. 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4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4C8DC"/>
                </a:solidFill>
                <a:latin typeface="Calibri"/>
              </a:defRPr>
            </a:pPr>
            <a:r>
              <a:t>Why clustering for pair discovery?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452"/>
                </a:solidFill>
                <a:latin typeface="Calibri"/>
              </a:defRPr>
            </a:pPr>
            <a:r>
              <a:t>The Problem: Finding Pairs to Trade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91137"/>
                </a:solidFill>
                <a:latin typeface="Calibri"/>
              </a:defRPr>
            </a:pPr>
            <a:r>
              <a:t>Traditional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Screen all C(N,2) combinations for cointegration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For 40 stocks: 780 pairs to test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High false discovery rate from multiple testing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No insight into WHY pairs are related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7AE60"/>
                </a:solidFill>
                <a:latin typeface="Calibri"/>
              </a:defRPr>
            </a:pPr>
            <a:r>
              <a:t>Our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Let clustering discover similar-behaving stocks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Validate discovered pairs with classical tests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Compare across 3 different algorithms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40 semiconductors, 11 months hourly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4846320"/>
            <a:ext cx="7315200" cy="1371600"/>
          </a:xfrm>
          <a:prstGeom prst="roundRect">
            <a:avLst/>
          </a:prstGeom>
          <a:solidFill>
            <a:srgbClr val="E6F0FA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452"/>
                </a:solidFill>
                <a:latin typeface="Calibri"/>
              </a:defRPr>
            </a:pPr>
            <a:r>
              <a:t>Key Idea: Stocks that consistently cluster together based on real-time feature similarity are candidates for pairs trading.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4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4C8DC"/>
                </a:solidFill>
                <a:latin typeface="Calibri"/>
              </a:defRPr>
            </a:pPr>
            <a:r>
              <a:t>Features, algorithms, and pipeline design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452"/>
                </a:solidFill>
                <a:latin typeface="Calibri"/>
              </a:defRPr>
            </a:pPr>
            <a:r>
              <a:t>Pipeline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280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2452"/>
                </a:solidFill>
                <a:latin typeface="Calibri"/>
              </a:defRPr>
            </a:pPr>
            <a:r>
              <a:t>Data  →  Features (9/ticker)  →  Standardize + PCA  →  Cluster  →  Discover Pairs  →  Validate  →  Backtest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2103120"/>
          <a:ext cx="9144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1148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Window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Volatility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Short-term rolling σ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50h (~1 week)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Market exposure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Rolling β to S&amp;P 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50h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Sector exposure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Rolling β to leave-one-out sector avg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50h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Momentum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RSI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70h (~2 weeks)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Momentum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5-hour return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Instantaneous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Regime shift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Δσ (short − medium volatility)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50h vs 147h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Regime shift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Δβ_SPX (short − medium)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50h vs 147h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Regime shift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Δβ_sector (short − medium)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50h vs 147h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Returns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Hourly return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Instantaneous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452"/>
                </a:solidFill>
                <a:latin typeface="Calibri"/>
              </a:defRPr>
            </a:pPr>
            <a:r>
              <a:t>Three Algorithms, One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C3C3C"/>
                </a:solidFill>
                <a:latin typeface="Calibri"/>
              </a:defRPr>
            </a:pPr>
            <a:r>
              <a:t>If different algorithms with different inductive biases find the same pairs, those relationships are robust.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828800"/>
          <a:ext cx="9144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194560"/>
                <a:gridCol w="2194560"/>
                <a:gridCol w="2194560"/>
              </a:tblGrid>
              <a:tr h="522514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OPTICS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DBSCAN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KMeans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Density-based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Density-based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Centroid-based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k required?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No (auto)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No (auto)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Yes (silhouette)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Noise handling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Native (-1 label)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Native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Post-hoc filter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Avg noise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~10%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Avg clusters/ts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3.3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1.5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3.1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OOS stability (r)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0.627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669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87878"/>
                </a:solidFill>
                <a:latin typeface="Calibri"/>
              </a:defRPr>
            </a:pPr>
            <a:r>
              <a:t>OOS stability = Pearson correlation of co-clustering frequencies between first 67% and last 33% of timestamps.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4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Pair Discovery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4C8DC"/>
                </a:solidFill>
                <a:latin typeface="Calibri"/>
              </a:defRPr>
            </a:pPr>
            <a:r>
              <a:t>All three algorithms converge on the same pairs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452"/>
                </a:solidFill>
                <a:latin typeface="Calibri"/>
              </a:defRPr>
            </a:pPr>
            <a:r>
              <a:t>8 Consensus Pairs Across All Algorithms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645920" y="1280160"/>
          <a:ext cx="7772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371600"/>
                <a:gridCol w="137160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Pair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OPTICS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KMeans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DBSCAN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Subsector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KLAC–LRCX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0.378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0.785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0.851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Equipment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QRVO–SWKS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0.372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RF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AMAT–LRCX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0.363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0.824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0.845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Equipment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AMAT–KLAC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0.340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Equipment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ADI–NXPI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0.279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0.816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0.900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Analog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ADI–TXN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Analog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NXPI–TXN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0.223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0.819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0.806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Analog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ADI–SWKS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0.216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Analog/RF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C3C3C"/>
                </a:solidFill>
                <a:latin typeface="Calibri"/>
              </a:defRPr>
            </a:pPr>
            <a:r>
              <a:t>OPTICS frequencies are 2–4x lower due to 58% noise rate. Noise-adjusted rates are comparable.</a:t>
            </a:r>
            <a:br/>
            <a:r>
              <a:t>11 pairs statistically significant via feature-shuffle permutation test (Z &gt; 1.96, p &lt; 0.05).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452"/>
                </a:solidFill>
                <a:latin typeface="Calibri"/>
              </a:defRPr>
            </a:pPr>
            <a:r>
              <a:t>The Algorithm Discovers Industry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C3C3C"/>
                </a:solidFill>
                <a:latin typeface="Calibri"/>
              </a:defRPr>
            </a:pPr>
            <a:r>
              <a:t>No fundamental data as input — only price-derived features. Yet the clustering independently discovers the semiconductor subsector map: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103120"/>
            <a:ext cx="9875520" cy="868680"/>
          </a:xfrm>
          <a:prstGeom prst="roundRect">
            <a:avLst/>
          </a:prstGeom>
          <a:solidFill>
            <a:srgbClr val="F0F0F0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14883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452"/>
                </a:solidFill>
                <a:latin typeface="Calibri"/>
              </a:defRPr>
            </a:pPr>
            <a:r>
              <a:t>Equipment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488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C3C3C"/>
                </a:solidFill>
                <a:latin typeface="Calibri"/>
              </a:defRPr>
            </a:pPr>
            <a:r>
              <a:t>AMAT, LRCX, KLAC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48839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6464"/>
                </a:solidFill>
                <a:latin typeface="Calibri"/>
              </a:defRPr>
            </a:pPr>
            <a:r>
              <a:t>Shared fab customers (TSMC, Samsung, Intel)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3154679"/>
            <a:ext cx="9875520" cy="868680"/>
          </a:xfrm>
          <a:prstGeom prst="roundRect">
            <a:avLst/>
          </a:prstGeom>
          <a:solidFill>
            <a:srgbClr val="F0F0F0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20039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452"/>
                </a:solidFill>
                <a:latin typeface="Calibri"/>
              </a:defRPr>
            </a:pPr>
            <a:r>
              <a:t>RF / 5G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20039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C3C3C"/>
                </a:solidFill>
                <a:latin typeface="Calibri"/>
              </a:defRPr>
            </a:pPr>
            <a:r>
              <a:t>QRVO, SWKS, QCOM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200399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6464"/>
                </a:solidFill>
                <a:latin typeface="Calibri"/>
              </a:defRPr>
            </a:pPr>
            <a:r>
              <a:t>Smartphone and 5G demand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4206240"/>
            <a:ext cx="9875520" cy="868680"/>
          </a:xfrm>
          <a:prstGeom prst="roundRect">
            <a:avLst/>
          </a:prstGeom>
          <a:solidFill>
            <a:srgbClr val="F0F0F0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425195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452"/>
                </a:solidFill>
                <a:latin typeface="Calibri"/>
              </a:defRPr>
            </a:pPr>
            <a:r>
              <a:t>Analog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25195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C3C3C"/>
                </a:solidFill>
                <a:latin typeface="Calibri"/>
              </a:defRPr>
            </a:pPr>
            <a:r>
              <a:t>ADI, NXPI, TXN, MCHP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251959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6464"/>
                </a:solidFill>
                <a:latin typeface="Calibri"/>
              </a:defRPr>
            </a:pPr>
            <a:r>
              <a:t>Industrial and automotive end markets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" y="5257800"/>
            <a:ext cx="9875520" cy="868680"/>
          </a:xfrm>
          <a:prstGeom prst="roundRect">
            <a:avLst/>
          </a:prstGeom>
          <a:solidFill>
            <a:srgbClr val="F0F0F0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5303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452"/>
                </a:solidFill>
                <a:latin typeface="Calibri"/>
              </a:defRPr>
            </a:pPr>
            <a:r>
              <a:t>EDA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53035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C3C3C"/>
                </a:solidFill>
                <a:latin typeface="Calibri"/>
              </a:defRPr>
            </a:pPr>
            <a:r>
              <a:t>CDNS, SNPS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035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6464"/>
                </a:solidFill>
                <a:latin typeface="Calibri"/>
              </a:defRPr>
            </a:pPr>
            <a:r>
              <a:t>Chip design software duopoly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2452"/>
                </a:solidFill>
                <a:latin typeface="Calibri"/>
              </a:defRPr>
            </a:pPr>
            <a:r>
              <a:t>Data-driven clustering converges with known industry structure → relationships are real, not noise.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4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Pair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4C8DC"/>
                </a:solidFill>
                <a:latin typeface="Calibri"/>
              </a:defRPr>
            </a:pPr>
            <a:r>
              <a:t>Classical pairs trading tests on discovered pairs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452"/>
                </a:solidFill>
                <a:latin typeface="Calibri"/>
              </a:defRPr>
            </a:pPr>
            <a:r>
              <a:t>Classical Pairs Trading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C3C3C"/>
                </a:solidFill>
                <a:latin typeface="Calibri"/>
              </a:defRPr>
            </a:pPr>
            <a:r>
              <a:t>Three criteria on calibration window (first 67%):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1. Engle-Granger cointegration (p &lt; 0.05, bidirectional)</a:t>
            </a:r>
          </a:p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2. Half-life of mean reversion: 5–60 days</a:t>
            </a:r>
          </a:p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3. Hurst exponent &lt; 0.5 (mean-reverting, not trending)</a:t>
            </a:r>
          </a:p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Hedge ratio: OLS, calibration window only.</a:t>
            </a:r>
          </a:p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33 pairs tested (noise-adjusted freq &gt; 15%).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0" y="1371600"/>
          <a:ext cx="3657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Passed (3/3)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Near-miss (2/3)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22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Failed (0–1/3)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Total tested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33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371600" y="4754880"/>
            <a:ext cx="9144000" cy="1645920"/>
          </a:xfrm>
          <a:prstGeom prst="roundRect">
            <a:avLst/>
          </a:prstGeom>
          <a:solidFill>
            <a:srgbClr val="E6F0FA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452"/>
                </a:solidFill>
                <a:latin typeface="Calibri"/>
              </a:defRPr>
            </a:pPr>
            <a:r>
              <a:t>26 of 33 pairs show mean-reverting spreads (≥ 2 criteria met)</a:t>
            </a:r>
          </a:p>
          <a:p>
            <a:pPr algn="ctr">
              <a:defRPr sz="1400">
                <a:solidFill>
                  <a:srgbClr val="3C3C3C"/>
                </a:solidFill>
                <a:latin typeface="Calibri"/>
              </a:defRPr>
            </a:pPr>
            <a:r>
              <a:t>The 22 near-misses typically pass Hurst + half-life but fail cointegration — consistent with transient dynamics: relationships that form and dissolve over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4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Out-of-Sample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4C8DC"/>
                </a:solidFill>
                <a:latin typeface="Calibri"/>
              </a:defRPr>
            </a:pPr>
            <a:r>
              <a:t>Honest backtesting on unseen data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452"/>
                </a:solidFill>
                <a:latin typeface="Calibri"/>
              </a:defRPr>
            </a:pPr>
            <a:r>
              <a:t>Out-of-Sample Backtest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C3C3C"/>
                </a:solidFill>
                <a:latin typeface="Calibri"/>
              </a:defRPr>
            </a:pPr>
            <a:r>
              <a:t>Z-score mean reversion: lookback 20d, enter |z| ≥ 2.0, exit |z| ≤ 0.5. OOS window only (~3.5 months).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54480"/>
          <a:ext cx="71323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822960"/>
                <a:gridCol w="914400"/>
                <a:gridCol w="822960"/>
                <a:gridCol w="731520"/>
                <a:gridCol w="822960"/>
                <a:gridCol w="822960"/>
                <a:gridCol w="731520"/>
              </a:tblGrid>
              <a:tr h="4800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Pair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Coint p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Half-Life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Hurst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Trades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P&amp;L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Sharpe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 %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NXPI–ON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0.271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8.6d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0.413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6.56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3.55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CDNS–SNPS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21.5d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0.447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36.26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QCOM–QRVO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0.019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5.3d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0.205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47.46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1.44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KLAC–TSM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3.6d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0.181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47.55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LRCX–NVMI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0.422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13.2d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0.440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16.19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1.04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NXPI–POWI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0.568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13.5d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0.372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37.32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80%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MCHP–ON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0.039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5.2d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0.313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3.62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0.65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67%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96112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452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0" y="228600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14 of 26 tradeable pairs profitable OOS (54%)</a:t>
            </a:r>
          </a:p>
          <a:p>
            <a:pPr>
              <a:spcAft>
                <a:spcPts val="600"/>
              </a:spcAft>
              <a:defRPr sz="1400">
                <a:solidFill>
                  <a:srgbClr val="3C3C3C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Top Sharpe ratios: 1.4–3.6 on unseen data</a:t>
            </a:r>
          </a:p>
          <a:p>
            <a:pPr>
              <a:spcAft>
                <a:spcPts val="600"/>
              </a:spcAft>
              <a:defRPr sz="1400">
                <a:solidFill>
                  <a:srgbClr val="3C3C3C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Caveat: 2–5 trades per pair — directionally encouraging but low sample size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452"/>
                </a:solidFill>
                <a:latin typeface="Calibri"/>
              </a:defRPr>
            </a:pPr>
            <a:r>
              <a:t>The Look-Ahead Bias Lesson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029200" cy="2560320"/>
          </a:xfrm>
          <a:prstGeom prst="roundRect">
            <a:avLst/>
          </a:prstGeom>
          <a:solidFill>
            <a:srgbClr val="FFEBEB"/>
          </a:solidFill>
          <a:ln>
            <a:solidFill>
              <a:srgbClr val="B91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91137"/>
                </a:solidFill>
                <a:latin typeface="Calibri"/>
              </a:defRPr>
            </a:pPr>
            <a:r>
              <a:t>Before: Full-Period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Hedge ratio fit on ALL data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Backtest on SAME data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23/23 pairs profitable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80–100% win rates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2560320"/>
          </a:xfrm>
          <a:prstGeom prst="roundRect">
            <a:avLst/>
          </a:prstGeom>
          <a:solidFill>
            <a:srgbClr val="E6FAEB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7AE60"/>
                </a:solidFill>
                <a:latin typeface="Calibri"/>
              </a:defRPr>
            </a:pPr>
            <a:r>
              <a:t>After: Proper Cal/OOS Split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0116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Hedge ratio on FIRST 67%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Backtest on LAST 33%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14/26 pairs profitable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Some strong pairs reversed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3891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C3C3C"/>
                </a:solidFill>
                <a:latin typeface="Calibri"/>
              </a:defRPr>
            </a:pPr>
            <a:r>
              <a:t>ADI–NXPI:  In-sample Sharpe 1.08  →  OOS Sharpe −1.76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5303520"/>
            <a:ext cx="6400800" cy="914400"/>
          </a:xfrm>
          <a:prstGeom prst="roundRect">
            <a:avLst/>
          </a:prstGeom>
          <a:solidFill>
            <a:srgbClr val="002452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Out-of-sample validation is non-negotiable.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452"/>
                </a:solidFill>
                <a:latin typeface="Calibri"/>
              </a:defRPr>
            </a:pPr>
            <a:r>
              <a:t>Does Consensus Predict Performance?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28800" y="1463040"/>
          <a:ext cx="8229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Group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Tradeable Pairs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 Sharpe (OOS)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 P&amp;L (OOS)</a:t>
                      </a:r>
                    </a:p>
                  </a:txBody>
                  <a:tcPr>
                    <a:solidFill>
                      <a:srgbClr val="00245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Consensus (all 3 algos)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−0.251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−13.73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Non-consensus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+0.056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−8.76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371600" y="3474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B91137"/>
                </a:solidFill>
                <a:latin typeface="Calibri"/>
              </a:defRPr>
            </a:pPr>
            <a:r>
              <a:t>Consensus pairs underperformed non-consensus OOS.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4389120" cy="1828800"/>
          </a:xfrm>
          <a:prstGeom prst="roundRect">
            <a:avLst/>
          </a:prstGeom>
          <a:solidFill>
            <a:srgbClr val="E6F0FA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452"/>
                </a:solidFill>
              </a:defRPr>
            </a:pPr>
            <a:r>
              <a:t>Consensus = Validation of Relationship</a:t>
            </a:r>
          </a:p>
          <a:p>
            <a:pPr algn="ctr">
              <a:defRPr sz="1300">
                <a:solidFill>
                  <a:srgbClr val="3C3C3C"/>
                </a:solidFill>
              </a:defRPr>
            </a:pPr>
            <a:r>
              <a:t>Cross-algorithm agreement confirms structurally related pairs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4206240"/>
            <a:ext cx="4389120" cy="1828800"/>
          </a:xfrm>
          <a:prstGeom prst="roundRect">
            <a:avLst/>
          </a:prstGeom>
          <a:solidFill>
            <a:srgbClr val="FFEBEB"/>
          </a:solidFill>
          <a:ln>
            <a:solidFill>
              <a:srgbClr val="B91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B91137"/>
                </a:solidFill>
              </a:defRPr>
            </a:pPr>
            <a:r>
              <a:t>Consensus ≠ Trading Signal</a:t>
            </a:r>
          </a:p>
          <a:p>
            <a:pPr algn="ctr">
              <a:defRPr sz="1300">
                <a:solidFill>
                  <a:srgbClr val="3C3C3C"/>
                </a:solidFill>
              </a:defRPr>
            </a:pPr>
            <a:r>
              <a:t>Does not predict out-of-sample profitability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4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4C8DC"/>
                </a:solidFill>
                <a:latin typeface="Calibri"/>
              </a:defRPr>
            </a:pPr>
            <a:r>
              <a:t>What we learned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452"/>
                </a:solidFill>
                <a:latin typeface="Calibri"/>
              </a:defRPr>
            </a:pPr>
            <a:r>
              <a:t>What We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7AE60"/>
                </a:solidFill>
                <a:latin typeface="Calibri"/>
              </a:defRPr>
            </a:pPr>
            <a:r>
              <a:t>What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Clustering reliably discovers real subsector relationships</a:t>
            </a:r>
          </a:p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3 algorithms converge → robust, algorithm-agnostic signal</a:t>
            </a:r>
          </a:p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26/33 pairs show mean-reverting spreads</a:t>
            </a:r>
          </a:p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Top OOS performers: genuine Sharpe 1.4–3.6</a:t>
            </a:r>
          </a:p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Permutation test confirms statistical significance (11 pairs)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91137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73736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Only 54% profitable OOS with simple z-score strategy</a:t>
            </a:r>
          </a:p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Consensus does not predict OOS performance</a:t>
            </a:r>
          </a:p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Fixed OLS hedge ratios drift over time</a:t>
            </a:r>
          </a:p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Low trade counts (2–5) limit statistical power</a:t>
            </a:r>
          </a:p>
          <a:p>
            <a:pPr>
              <a:spcAft>
                <a:spcPts val="600"/>
              </a:spcAft>
              <a:defRPr sz="1500">
                <a:solidFill>
                  <a:srgbClr val="3C3C3C"/>
                </a:solidFill>
                <a:latin typeface="Calibri"/>
              </a:defRPr>
            </a:pPr>
            <a:r>
              <a:t>Zero transaction cost assumption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5029200"/>
            <a:ext cx="8229600" cy="1188720"/>
          </a:xfrm>
          <a:prstGeom prst="roundRect">
            <a:avLst/>
          </a:prstGeom>
          <a:solidFill>
            <a:srgbClr val="002452"/>
          </a:solidFill>
          <a:ln>
            <a:solidFill>
              <a:srgbClr val="002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Clustering is an effective pair discovery tool.</a:t>
            </a:r>
            <a:br/>
            <a:r>
              <a:t>Turning discoveries into profitable trades requires strategy refinement.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452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452"/>
                </a:solidFill>
                <a:latin typeface="Calibri"/>
              </a:defRPr>
            </a:pPr>
            <a:r>
              <a:t>1.  Walk-Forward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28016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C3C3C"/>
                </a:solidFill>
                <a:latin typeface="Calibri"/>
              </a:defRPr>
            </a:pPr>
            <a:r>
              <a:t>Rolling cal/OOS splits for more robust performance estimates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402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452"/>
                </a:solidFill>
                <a:latin typeface="Calibri"/>
              </a:defRPr>
            </a:pPr>
            <a:r>
              <a:t>2.  Adaptive Hedge Ratios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24028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C3C3C"/>
                </a:solidFill>
                <a:latin typeface="Calibri"/>
              </a:defRPr>
            </a:pPr>
            <a:r>
              <a:t>Kalman filter estimates that evolve with the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00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452"/>
                </a:solidFill>
                <a:latin typeface="Calibri"/>
              </a:defRPr>
            </a:pPr>
            <a:r>
              <a:t>3.  Real-Time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2004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C3C3C"/>
                </a:solidFill>
                <a:latin typeface="Calibri"/>
              </a:defRPr>
            </a:pPr>
            <a:r>
              <a:t>Live formation detection → validation → signal generation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160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452"/>
                </a:solidFill>
                <a:latin typeface="Calibri"/>
              </a:defRPr>
            </a:pPr>
            <a:r>
              <a:t>4.  Expanded Universe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41605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C3C3C"/>
                </a:solidFill>
                <a:latin typeface="Calibri"/>
              </a:defRPr>
            </a:pPr>
            <a:r>
              <a:t>Test framework on other sectors to assess generalizability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120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452"/>
                </a:solidFill>
                <a:latin typeface="Calibri"/>
              </a:defRPr>
            </a:pPr>
            <a:r>
              <a:t>5.  Transaction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51206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C3C3C"/>
                </a:solidFill>
                <a:latin typeface="Calibri"/>
              </a:defRPr>
            </a:pPr>
            <a:r>
              <a:t>Incorporate realistic spread, slippage, and commission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4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4747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4C8DC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029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ABD00"/>
                </a:solidFill>
                <a:latin typeface="Calibri"/>
              </a:defRPr>
            </a:pPr>
            <a:r>
              <a:t>Queen's Quant Club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