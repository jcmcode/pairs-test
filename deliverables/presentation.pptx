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4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Clustering-Driven Pair Discovery</a:t>
            </a:r>
            <a:br/>
            <a:r>
              <a:t>From Semiconductors to Cross-Sector Markets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4C8DC"/>
                </a:solidFill>
                <a:latin typeface="Calibri"/>
              </a:defRPr>
            </a:pPr>
            <a:r>
              <a:t>Unsupervised Learning for Transient Correlation Detection Across 142 Tickers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29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ABD00"/>
                </a:solidFill>
                <a:latin typeface="Calibri"/>
              </a:defRPr>
            </a:pPr>
            <a:r>
              <a:t>Queen's Quant Club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2452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1.  Motivation: Why clustering for pair discovery?</a:t>
            </a:r>
          </a:p>
          <a:p>
            <a:pPr>
              <a:spcAft>
                <a:spcPts val="6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2.  Methodology: Features, algorithms, pipeline</a:t>
            </a:r>
          </a:p>
          <a:p>
            <a:pPr>
              <a:spcAft>
                <a:spcPts val="6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3.  Phase 1: Semiconductor pair discovery &amp; validation</a:t>
            </a:r>
          </a:p>
          <a:p>
            <a:pPr>
              <a:spcAft>
                <a:spcPts val="6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4.  Phase 2: Cross-sector expansion (142 tickers, 5 sectors)</a:t>
            </a:r>
          </a:p>
          <a:p>
            <a:pPr>
              <a:spcAft>
                <a:spcPts val="6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5.  5-Test Validation: Replacing cointegration</a:t>
            </a:r>
          </a:p>
          <a:p>
            <a:pPr>
              <a:spcAft>
                <a:spcPts val="6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6.  Cross-Sector Results: 3,712 pairs scored</a:t>
            </a:r>
          </a:p>
          <a:p>
            <a:pPr>
              <a:spcAft>
                <a:spcPts val="6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7.  Enhanced Backtesting: Kalman hedge, walk-forward</a:t>
            </a:r>
          </a:p>
          <a:p>
            <a:pPr>
              <a:spcAft>
                <a:spcPts val="6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8.  Statistical Significance: Permutation testing</a:t>
            </a:r>
          </a:p>
          <a:p>
            <a:pPr>
              <a:spcAft>
                <a:spcPts val="600"/>
              </a:spcAft>
              <a:defRPr sz="2000">
                <a:solidFill>
                  <a:srgbClr val="3C3C3C"/>
                </a:solidFill>
                <a:latin typeface="Calibri"/>
              </a:defRPr>
            </a:pPr>
            <a:r>
              <a:t>9.  Key Insights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4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4C8DC"/>
                </a:solidFill>
                <a:latin typeface="Calibri"/>
              </a:defRPr>
            </a:pPr>
            <a:r>
              <a:t>Why clustering for pair discovery?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2452"/>
                </a:solidFill>
                <a:latin typeface="Calibri"/>
              </a:defRPr>
            </a:pPr>
            <a:r>
              <a:t>The Problem: Finding Pairs to Trade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91137"/>
                </a:solidFill>
                <a:latin typeface="Calibri"/>
              </a:defRPr>
            </a:pPr>
            <a:r>
              <a:t>Traditional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Screen all C(N,2) combinations for cointegration</a:t>
            </a:r>
          </a:p>
          <a:p>
            <a:pPr>
              <a:spcAft>
                <a:spcPts val="6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For 142 stocks: 10,011 pairs to test</a:t>
            </a:r>
          </a:p>
          <a:p>
            <a:pPr>
              <a:spcAft>
                <a:spcPts val="6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High false discovery rate from multiple testing</a:t>
            </a:r>
          </a:p>
          <a:p>
            <a:pPr>
              <a:spcAft>
                <a:spcPts val="6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No insight into WHY pairs are related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Calibri"/>
              </a:defRPr>
            </a:pPr>
            <a:r>
              <a:t>Our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0116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Let clustering discover similar-behaving stocks</a:t>
            </a:r>
          </a:p>
          <a:p>
            <a:pPr>
              <a:spcAft>
                <a:spcPts val="6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Validate with a 5-test scored framework</a:t>
            </a:r>
          </a:p>
          <a:p>
            <a:pPr>
              <a:spcAft>
                <a:spcPts val="6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Compare across 3 different algorithms</a:t>
            </a:r>
          </a:p>
          <a:p>
            <a:pPr>
              <a:spcAft>
                <a:spcPts val="6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142 tickers, 5 sectors, 11 months hourly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4846320"/>
            <a:ext cx="7315200" cy="1371600"/>
          </a:xfrm>
          <a:prstGeom prst="roundRect">
            <a:avLst/>
          </a:prstGeom>
          <a:solidFill>
            <a:srgbClr val="E6F0FA"/>
          </a:solidFill>
          <a:ln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2452"/>
                </a:solidFill>
                <a:latin typeface="Calibri"/>
              </a:defRPr>
            </a:pPr>
            <a:r>
              <a:t>Key Idea: Stocks that consistently cluster together based on real-time feature similarity are candidates for pairs trading.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4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4C8DC"/>
                </a:solidFill>
                <a:latin typeface="Calibri"/>
              </a:defRPr>
            </a:pPr>
            <a:r>
              <a:t>Features, algorithms, and pipeline design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2452"/>
                </a:solidFill>
                <a:latin typeface="Calibri"/>
              </a:defRPr>
            </a:pPr>
            <a:r>
              <a:t>Pipeline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280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2452"/>
                </a:solidFill>
                <a:latin typeface="Calibri"/>
              </a:defRPr>
            </a:pPr>
            <a:r>
              <a:t>Data  →  Features (9/ticker)  →  Standardize + PCA  →  Cluster  →  Discover Pairs  →  Validate  →  Backtest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2103120"/>
          <a:ext cx="9144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Window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Volatility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Short-term rolling σ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50h (~1 week)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Market exposure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Rolling β to S&amp;P 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50h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Sector exposure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Rolling β to leave-one-out sector avg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50h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Momentum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RSI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70h (~2 weeks)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Momentum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5-hour return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Instantaneous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Regime 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Δσ (short − medium volatility)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50h vs 147h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Regime shift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Δβ_SPX (short − medium)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50h vs 147h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Regime 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Δβ_sector (short − medium)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50h vs 147h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Returns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Hourly return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Instantaneous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2452"/>
                </a:solidFill>
                <a:latin typeface="Calibri"/>
              </a:defRPr>
            </a:pPr>
            <a:r>
              <a:t>Three Algorithms, One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C3C3C"/>
                </a:solidFill>
                <a:latin typeface="Calibri"/>
              </a:defRPr>
            </a:pPr>
            <a:r>
              <a:t>If different algorithms with different inductive biases find the same pairs, those relationships are robust.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828800"/>
          <a:ext cx="9144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194560"/>
                <a:gridCol w="219456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OPTICS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DBSCAN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KMeans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Density-based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Density-based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Centroid-based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k required?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No (auto)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No (auto)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Yes (silhouette)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Noise handling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Native (-1 label)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Native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Post-hoc filter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Avg noise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28%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~10%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Avg clusters/ts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3.3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1.5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3.1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OOS stability (r)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0.671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0.832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0.627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212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64"/>
                </a:solidFill>
                <a:latin typeface="Calibri"/>
              </a:defRPr>
            </a:pPr>
            <a:r>
              <a:t>OPTICS selected as primary algorithm for Phase 2: best at detecting variable-density clusters</a:t>
            </a:r>
            <a:br/>
            <a:r>
              <a:t>and transient relationship formations. Only 2 consensus pairs across all 3 algorithms' top-20</a:t>
            </a:r>
            <a:br/>
            <a:r>
              <a:t>(COP-DVN, CVX-XOM) — but permutation testing confirms 943 statistically significant pairs.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4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Phase 1: Semiconductors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4C8DC"/>
                </a:solidFill>
                <a:latin typeface="Calibri"/>
              </a:defRPr>
            </a:pPr>
            <a:r>
              <a:t>40 tickers, proof of concept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2452"/>
                </a:solidFill>
                <a:latin typeface="Calibri"/>
              </a:defRPr>
            </a:pPr>
            <a:r>
              <a:t>8 Consensus Pairs Across All Algorithms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45920" y="1280160"/>
          <a:ext cx="7772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371600"/>
                <a:gridCol w="13716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Pair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OPTICS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KMeans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DBSCAN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Subsector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KLAC–LRCX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0.378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0.785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0.851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Equipment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QRVO–SWKS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0.372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0.888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0.828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RF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AMAT–LRCX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0.363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0.824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0.845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Equipment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AMAT–KLAC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0.340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0.807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0.814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Equipment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ADI–NXPI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0.279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0.816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0.900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Analog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ADI–TXN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0.278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0.887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0.817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Analog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NXPI–TXN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0.223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0.819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0.806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Analog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ADI–SWKS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0.216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0.830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0.830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Analog/RF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C3C3C"/>
                </a:solidFill>
                <a:latin typeface="Calibri"/>
              </a:defRPr>
            </a:pPr>
            <a:r>
              <a:t>14/26 tradeable pairs profitable OOS (54%) with simple z-score strategy.</a:t>
            </a:r>
            <a:br/>
            <a:r>
              <a:t>Top Sharpe: NXPI–ON 3.55, CDNS–SNPS 2.08. Caveat: 2–5 trades per pair.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2452"/>
                </a:solidFill>
                <a:latin typeface="Calibri"/>
              </a:defRPr>
            </a:pPr>
            <a:r>
              <a:t>The Algorithm Discovers Industry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C3C3C"/>
                </a:solidFill>
                <a:latin typeface="Calibri"/>
              </a:defRPr>
            </a:pPr>
            <a:r>
              <a:t>No fundamental data as input — only price-derived features. Yet the clustering independently discovers the semiconductor subsector map: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103120"/>
            <a:ext cx="9875520" cy="868680"/>
          </a:xfrm>
          <a:prstGeom prst="roundRect">
            <a:avLst/>
          </a:prstGeom>
          <a:solidFill>
            <a:srgbClr val="F0F0F0"/>
          </a:solidFill>
          <a:ln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14883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452"/>
                </a:solidFill>
                <a:latin typeface="Calibri"/>
              </a:defRPr>
            </a:pPr>
            <a:r>
              <a:t>Equipment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1488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C3C3C"/>
                </a:solidFill>
                <a:latin typeface="Calibri"/>
              </a:defRPr>
            </a:pPr>
            <a:r>
              <a:t>AMAT, LRCX, KLAC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4883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64"/>
                </a:solidFill>
                <a:latin typeface="Calibri"/>
              </a:defRPr>
            </a:pPr>
            <a:r>
              <a:t>Shared fab customers (TSMC, Samsung, Intel)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154679"/>
            <a:ext cx="9875520" cy="868680"/>
          </a:xfrm>
          <a:prstGeom prst="roundRect">
            <a:avLst/>
          </a:prstGeom>
          <a:solidFill>
            <a:srgbClr val="F0F0F0"/>
          </a:solidFill>
          <a:ln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20039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452"/>
                </a:solidFill>
                <a:latin typeface="Calibri"/>
              </a:defRPr>
            </a:pPr>
            <a:r>
              <a:t>RF / 5G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20039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C3C3C"/>
                </a:solidFill>
                <a:latin typeface="Calibri"/>
              </a:defRPr>
            </a:pPr>
            <a:r>
              <a:t>QRVO, SWKS, QCOM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20039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64"/>
                </a:solidFill>
                <a:latin typeface="Calibri"/>
              </a:defRPr>
            </a:pPr>
            <a:r>
              <a:t>Smartphone and 5G demand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206240"/>
            <a:ext cx="9875520" cy="868680"/>
          </a:xfrm>
          <a:prstGeom prst="roundRect">
            <a:avLst/>
          </a:prstGeom>
          <a:solidFill>
            <a:srgbClr val="F0F0F0"/>
          </a:solidFill>
          <a:ln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425195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452"/>
                </a:solidFill>
                <a:latin typeface="Calibri"/>
              </a:defRPr>
            </a:pPr>
            <a:r>
              <a:t>Analog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25195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C3C3C"/>
                </a:solidFill>
                <a:latin typeface="Calibri"/>
              </a:defRPr>
            </a:pPr>
            <a:r>
              <a:t>ADI, NXPI, TXN, MCHP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25195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64"/>
                </a:solidFill>
                <a:latin typeface="Calibri"/>
              </a:defRPr>
            </a:pPr>
            <a:r>
              <a:t>Industrial and automotive end markets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5257800"/>
            <a:ext cx="9875520" cy="868680"/>
          </a:xfrm>
          <a:prstGeom prst="roundRect">
            <a:avLst/>
          </a:prstGeom>
          <a:solidFill>
            <a:srgbClr val="F0F0F0"/>
          </a:solidFill>
          <a:ln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5303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452"/>
                </a:solidFill>
                <a:latin typeface="Calibri"/>
              </a:defRPr>
            </a:pPr>
            <a:r>
              <a:t>EDA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5303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C3C3C"/>
                </a:solidFill>
                <a:latin typeface="Calibri"/>
              </a:defRPr>
            </a:pPr>
            <a:r>
              <a:t>CDNS, SNPS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3035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64"/>
                </a:solidFill>
                <a:latin typeface="Calibri"/>
              </a:defRPr>
            </a:pPr>
            <a:r>
              <a:t>Chip design software duopoly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2452"/>
                </a:solidFill>
                <a:latin typeface="Calibri"/>
              </a:defRPr>
            </a:pPr>
            <a:r>
              <a:t>Data-driven clustering converges with known industry structure → relationships are real, not noise.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4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Phase 2: Cross-Sector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4C8DC"/>
                </a:solidFill>
                <a:latin typeface="Calibri"/>
              </a:defRPr>
            </a:pPr>
            <a:r>
              <a:t>142 tickers, 5 sectors, 3,712 pairs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2452"/>
                </a:solidFill>
                <a:latin typeface="Calibri"/>
              </a:defRPr>
            </a:pPr>
            <a:r>
              <a:t>Universe Construction: 3-Layer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371600"/>
            <a:ext cx="9875520" cy="731520"/>
          </a:xfrm>
          <a:prstGeom prst="roundRect">
            <a:avLst/>
          </a:prstGeom>
          <a:solidFill>
            <a:srgbClr val="F0F0F0"/>
          </a:solidFill>
          <a:ln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2452"/>
                </a:solidFill>
                <a:latin typeface="Calibri"/>
              </a:defRPr>
            </a:pPr>
            <a:r>
              <a:t>Layer 1: Liquidity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4630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C3C3C"/>
                </a:solidFill>
                <a:latin typeface="Calibri"/>
              </a:defRPr>
            </a:pPr>
            <a:r>
              <a:t>US-listed, market cap &gt; $2B, volume &gt; 5M/day, price &gt; $5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286000"/>
            <a:ext cx="9875520" cy="731520"/>
          </a:xfrm>
          <a:prstGeom prst="roundRect">
            <a:avLst/>
          </a:prstGeom>
          <a:solidFill>
            <a:srgbClr val="F0F0F0"/>
          </a:solidFill>
          <a:ln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377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2452"/>
                </a:solidFill>
                <a:latin typeface="Calibri"/>
              </a:defRPr>
            </a:pPr>
            <a:r>
              <a:t>Layer 2: Sector Grouping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3774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C3C3C"/>
                </a:solidFill>
                <a:latin typeface="Calibri"/>
              </a:defRPr>
            </a:pPr>
            <a:r>
              <a:t>Technology, Healthcare, Energy, Financial Services, Industrials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200400"/>
            <a:ext cx="9875520" cy="731520"/>
          </a:xfrm>
          <a:prstGeom prst="roundRect">
            <a:avLst/>
          </a:prstGeom>
          <a:solidFill>
            <a:srgbClr val="F0F0F0"/>
          </a:solidFill>
          <a:ln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291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2452"/>
                </a:solidFill>
                <a:latin typeface="Calibri"/>
              </a:defRPr>
            </a:pPr>
            <a:r>
              <a:t>Layer 3: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2918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C3C3C"/>
                </a:solidFill>
                <a:latin typeface="Calibri"/>
              </a:defRPr>
            </a:pPr>
            <a:r>
              <a:t>Positive EBITDA — removes speculative pre-revenue names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2452"/>
                </a:solidFill>
                <a:latin typeface="Calibri"/>
              </a:defRPr>
            </a:pPr>
            <a:r>
              <a:t>Key Design Decision: Single Combined Universe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93776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All 142 tickers clustered together — not per-sector</a:t>
            </a:r>
          </a:p>
          <a:p>
            <a:pPr>
              <a:spcAft>
                <a:spcPts val="6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Cross-sector pairs discovered organically (e.g., RTX-SHEL: Industrials/Energy)</a:t>
            </a:r>
          </a:p>
          <a:p>
            <a:pPr>
              <a:spcAft>
                <a:spcPts val="6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If intra-sector pairs dominate, that's an empirical result, not a constraint</a:t>
            </a:r>
          </a:p>
          <a:p>
            <a:pPr>
              <a:spcAft>
                <a:spcPts val="6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Result: 8,065 co-clustering pairs identified; 3,712 above noise-adjusted threshold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4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5-Test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4C8DC"/>
                </a:solidFill>
                <a:latin typeface="Calibri"/>
              </a:defRPr>
            </a:pPr>
            <a:r>
              <a:t>Replacing cointegration with a scored framework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2452"/>
                </a:solidFill>
                <a:latin typeface="Calibri"/>
              </a:defRPr>
            </a:pPr>
            <a:r>
              <a:t>Why Cointegration Fails on Transient Correlations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1828800"/>
          </a:xfrm>
          <a:prstGeom prst="roundRect">
            <a:avLst/>
          </a:prstGeom>
          <a:solidFill>
            <a:srgbClr val="FFEBEB"/>
          </a:solidFill>
          <a:ln>
            <a:solidFill>
              <a:srgbClr val="B91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91137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Engle-Granger cointegration: 0% pass rate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Tests for long-run equilibrium — wrong model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Yet Hurst passes 90.6%, Half-life 82.3%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Spreads DO mean-revert, just not permanently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188720"/>
            <a:ext cx="5029200" cy="1828800"/>
          </a:xfrm>
          <a:prstGeom prst="roundRect">
            <a:avLst/>
          </a:prstGeom>
          <a:solidFill>
            <a:srgbClr val="E6FAEB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  <a:latin typeface="Calibri"/>
              </a:defRPr>
            </a:pPr>
            <a:r>
              <a:t>The Solution: 5-Test Scored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73736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Each test scores 0 or 1 (total 0–5)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Strong (4–5), Moderate (3), Weak (2), Fail (&lt;2)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58.4% of pairs are tradeable (score ≥ 3)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vs 0% with cointegration!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371600" y="3291840"/>
          <a:ext cx="9144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1371600"/>
                <a:gridCol w="3931920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Threshold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Pass Rate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ADF on spread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p &lt; 0.10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38.4%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Spread stationarity (hard)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Half-life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5–60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82.3%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Mean-reversion speed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Hurst exponent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H &lt; 0.5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90.6%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Mean-reverting (easy)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Variance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Reject RW @10%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21.2%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Short-run MR (hardest)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Rolling corr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Stability &gt; 0.5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33.7%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Return correlation persistence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4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Cross-Sector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4C8DC"/>
                </a:solidFill>
                <a:latin typeface="Calibri"/>
              </a:defRPr>
            </a:pPr>
            <a:r>
              <a:t>3,712 pairs scored across 5 sectors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2452"/>
                </a:solidFill>
                <a:latin typeface="Calibri"/>
              </a:defRPr>
            </a:pPr>
            <a:r>
              <a:t>Score Distribution &amp; Sector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452"/>
                </a:solidFill>
                <a:latin typeface="Calibri"/>
              </a:defRPr>
            </a:pPr>
            <a:r>
              <a:t>Score Distribution (3,712 pairs)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737360"/>
          <a:ext cx="47548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Classification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Strong (4–5)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596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16.1%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Moderate 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1,572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42.3%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Weak (2)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1,235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33.3%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Fail (0–1)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309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8.3%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452"/>
                </a:solidFill>
                <a:latin typeface="Calibri"/>
              </a:defRPr>
            </a:pPr>
            <a:r>
              <a:t>Top Sector Combinations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737360"/>
          <a:ext cx="5029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097280"/>
                <a:gridCol w="1371600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Sectors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Pairs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 Score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Technology–Technology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903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2.62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Energy–Energy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262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3.10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Industrials–Technology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250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2.82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Healthcare–Technology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221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2.59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Healthcare–Healthcare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183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2.88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452"/>
                </a:solidFill>
                <a:latin typeface="Calibri"/>
              </a:defRPr>
            </a:pPr>
            <a:r>
              <a:t>Intra-Sector vs Cross-Sector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371600" y="4937760"/>
          <a:ext cx="9144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1371600"/>
                <a:gridCol w="1371600"/>
                <a:gridCol w="164592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Pairs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 Score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Pass Rate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 Sharpe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Best Sharpe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Intra-sector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1,464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2.75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19.3%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1.95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1.96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Cross-sector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2,248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2.60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13.9%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1.59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2.56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2452"/>
                </a:solidFill>
                <a:latin typeface="Calibri"/>
              </a:defRPr>
            </a:pPr>
            <a:r>
              <a:t>Cross-Sector Discoveries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1828800"/>
          </a:xfrm>
          <a:prstGeom prst="roundRect">
            <a:avLst/>
          </a:prstGeom>
          <a:solidFill>
            <a:srgbClr val="E6F0FA"/>
          </a:solidFill>
          <a:ln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452"/>
                </a:solidFill>
                <a:latin typeface="Calibri"/>
              </a:defRPr>
            </a:pPr>
            <a:r>
              <a:t>RTX–SHEL (Score 4, Strong)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Industrials / Energy cross-sector link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Defense contractor ↔ Energy major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Enhanced PnL: +10.07, Kalman: +13.87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188720"/>
            <a:ext cx="5029200" cy="1828800"/>
          </a:xfrm>
          <a:prstGeom prst="roundRect">
            <a:avLst/>
          </a:prstGeom>
          <a:solidFill>
            <a:srgbClr val="E6F0FA"/>
          </a:solidFill>
          <a:ln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452"/>
                </a:solidFill>
                <a:latin typeface="Calibri"/>
              </a:defRPr>
            </a:pPr>
            <a:r>
              <a:t>APLD Crypto Mining Cluster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7373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APLD/HUT/CIFR/IREN across Tech &amp; FinServ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APLD-HUT: Score 4 (Strong)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Meaningful economic link, not noise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452"/>
                </a:solidFill>
                <a:latin typeface="Calibri"/>
              </a:defRPr>
            </a:pPr>
            <a:r>
              <a:t>Top Pairs (by score then Sharpe, min 5 trades)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371600" y="3840480"/>
          <a:ext cx="80467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828800"/>
                <a:gridCol w="914400"/>
                <a:gridCol w="1097280"/>
                <a:gridCol w="1097280"/>
                <a:gridCol w="1097280"/>
                <a:gridCol w="1097280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Pair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ADF p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Hurst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Trades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Sharpe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Cross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ADT–NOW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0.0002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0.11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2.56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Intra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APH–TSM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0.529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0.49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1.93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Cross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CRBG–NOW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0.323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0.33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1.64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Intra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CRBG–WU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0.178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0.23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1.96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Cross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DXCM–NOK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0.312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0.29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0.57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4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Enhanced Backtesting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4C8DC"/>
                </a:solidFill>
                <a:latin typeface="Calibri"/>
              </a:defRPr>
            </a:pPr>
            <a:r>
              <a:t>Adaptive z-scores, Kalman hedge, transaction costs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2452"/>
                </a:solidFill>
                <a:latin typeface="Calibri"/>
              </a:defRPr>
            </a:pPr>
            <a:r>
              <a:t>Three-Strategy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188720"/>
          <a:ext cx="8686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200400"/>
                <a:gridCol w="1371600"/>
                <a:gridCol w="1371600"/>
                <a:gridCol w="13716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Strategy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Trades/Pair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Profitable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 PnL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Static z=2.0, OLS, no costs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2.3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53%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0.356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Enhanced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Optimized z, OLS, 10bps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0.378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Kalman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Optimized z, Kalman β, 10bps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2.8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59%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0.408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474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2452"/>
                </a:solidFill>
                <a:latin typeface="Calibri"/>
              </a:defRPr>
            </a:pPr>
            <a:r>
              <a:t>Kalman Hedge Ratio Fix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Adaptive Kalman spread (beta updated each step)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  → Creates artificial mean-reversion by construction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  → Prediction error ~ white noise, trivially tradeable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Fix: Kalman on calibration only → terminal beta</a:t>
            </a:r>
          </a:p>
          <a:p>
            <a:pPr>
              <a:spcAft>
                <a:spcPts val="600"/>
              </a:spcAft>
              <a:defRPr sz="1400">
                <a:solidFill>
                  <a:srgbClr val="3C3C3C"/>
                </a:solidFill>
                <a:latin typeface="Calibri"/>
              </a:defRPr>
            </a:pPr>
            <a:r>
              <a:t>  → Fixed beta applied to OOS = honest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474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2452"/>
                </a:solidFill>
                <a:latin typeface="Calibri"/>
              </a:defRPr>
            </a:pPr>
            <a:r>
              <a:t>Top Enhanced Pairs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4023360"/>
          <a:ext cx="48463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731520"/>
                <a:gridCol w="1371600"/>
                <a:gridCol w="1371600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Pair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Enhanced PnL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Kalman PnL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AMAT-TSM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intra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+30.30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+54.19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CVX-SU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intra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+13.16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+10.41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APLD-IREN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cross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+10.40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+9.47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RTX-SHEL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cross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+10.07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+13.87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HUT-RIOT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intra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+9.91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+5.65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2452"/>
                </a:solidFill>
                <a:latin typeface="Calibri"/>
              </a:defRPr>
            </a:pPr>
            <a:r>
              <a:t>Walk-Forward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C3C3C"/>
                </a:solidFill>
                <a:latin typeface="Calibri"/>
              </a:defRPr>
            </a:pPr>
            <a:r>
              <a:t>5-split rolling calibration/OOS windows. Tests whether performance persists across multiple temporal splits, not just one lucky window.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0" y="2011680"/>
          <a:ext cx="7315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14400"/>
                <a:gridCol w="1188720"/>
                <a:gridCol w="1188720"/>
                <a:gridCol w="1188720"/>
                <a:gridCol w="118872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Pair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Splits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 Sharpe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Std Sharpe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Best Split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Trades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RUN–VNET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3.47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1.06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4.08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NVDA–ORCL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2.59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3.10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0.39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828800" y="4114800"/>
            <a:ext cx="8229600" cy="2011680"/>
          </a:xfrm>
          <a:prstGeom prst="roundRect">
            <a:avLst/>
          </a:prstGeom>
          <a:solidFill>
            <a:srgbClr val="E6F0FA"/>
          </a:solidFill>
          <a:ln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02452"/>
                </a:solidFill>
                <a:latin typeface="Calibri"/>
              </a:defRPr>
            </a:pPr>
            <a:r>
              <a:t>Walk-forward addresses the single-split limitation</a:t>
            </a:r>
          </a:p>
          <a:p>
            <a:pPr algn="ctr">
              <a:defRPr sz="1400">
                <a:solidFill>
                  <a:srgbClr val="3C3C3C"/>
                </a:solidFill>
                <a:latin typeface="Calibri"/>
              </a:defRPr>
            </a:pPr>
            <a:r>
              <a:t>RUN-VNET: Sharpe 3.47 with low variance (std 1.06) across 5 splits → robust signal.</a:t>
            </a:r>
            <a:br/>
            <a:r>
              <a:t>NVDA-ORCL: Sharpe 2.59 but high variance (std 3.10) → less reliable.</a:t>
            </a:r>
            <a:br/>
            <a:r>
              <a:t>Walk-forward was listed as Future Work in Phase 1 — now completed.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4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Statistical Significance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4C8DC"/>
                </a:solidFill>
                <a:latin typeface="Calibri"/>
              </a:defRPr>
            </a:pPr>
            <a:r>
              <a:t>Permutation testing on clustering structure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2452"/>
                </a:solidFill>
                <a:latin typeface="Calibri"/>
              </a:defRPr>
            </a:pPr>
            <a:r>
              <a:t>Permutation Test: 943 Significant Pairs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C3C3C"/>
                </a:solidFill>
                <a:latin typeface="Calibri"/>
              </a:defRPr>
            </a:pPr>
            <a:r>
              <a:t>Feature-shuffle test: at 80 sampled timestamps across 30 permutations, shuffle feature vectors across tickers (preserving cross-feature correlation) and re-run the full pipeline. Compare observed co-clustering frequency to null distribution.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2452"/>
                </a:solidFill>
                <a:latin typeface="Calibri"/>
              </a:defRPr>
            </a:pPr>
            <a:r>
              <a:t>8,086 pairs tested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Calibri"/>
              </a:defRPr>
            </a:pPr>
            <a:r>
              <a:t>943 significant (Z &gt; 1.96)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2452"/>
                </a:solidFill>
                <a:latin typeface="Calibri"/>
              </a:defRPr>
            </a:pPr>
            <a:r>
              <a:t>575 significant AND tradeable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0" y="2743200"/>
          <a:ext cx="6400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2743200"/>
              </a:tblGrid>
              <a:tr h="33250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Pair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Z-Score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Sector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PBR–PBR-A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39.92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Energy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AAL–DAL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38.10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Industrials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CVX–XOM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34.23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Energy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DAL–UAL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32.92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Industrials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AAL–UAL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29.96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Industrials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COP–OXY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29.44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Energy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BP–COP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23.89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Energy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HAL–SLB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23.67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Energy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COP–DVN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23.13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Energy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3251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AMAT–LRCX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22.55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C3C3C"/>
                          </a:solidFill>
                          <a:latin typeface="Calibri"/>
                        </a:defRPr>
                      </a:pPr>
                      <a:r>
                        <a:t>Technology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4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Key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4C8DC"/>
                </a:solidFill>
                <a:latin typeface="Calibri"/>
              </a:defRPr>
            </a:pPr>
            <a:r>
              <a:t>What works, what doesn't, and what's next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2452"/>
                </a:solidFill>
                <a:latin typeface="Calibri"/>
              </a:defRPr>
            </a:pPr>
            <a:r>
              <a:t>What We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Calibri"/>
              </a:defRPr>
            </a:pPr>
            <a:r>
              <a:t>What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Clustering discovers real economic relationships</a:t>
            </a:r>
          </a:p>
          <a:p>
            <a:pPr>
              <a:spcAft>
                <a:spcPts val="6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  — semiconductor subsectors, crypto mining clusters</a:t>
            </a:r>
          </a:p>
          <a:p>
            <a:pPr>
              <a:spcAft>
                <a:spcPts val="6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5-test framework: 58% tradeable vs 0% cointegration</a:t>
            </a:r>
          </a:p>
          <a:p>
            <a:pPr>
              <a:spcAft>
                <a:spcPts val="6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Kalman hedge: 59% profitable (vs 53% OLS baseline)</a:t>
            </a:r>
          </a:p>
          <a:p>
            <a:pPr>
              <a:spcAft>
                <a:spcPts val="6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Walk-forward validates top pairs across 5 splits</a:t>
            </a:r>
          </a:p>
          <a:p>
            <a:pPr>
              <a:spcAft>
                <a:spcPts val="6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943 pairs confirmed by permutation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91137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Cross-sector pairs rare (5 at 0.08 threshold)</a:t>
            </a:r>
          </a:p>
          <a:p>
            <a:pPr>
              <a:spcAft>
                <a:spcPts val="6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Short OOS (~68 days): 2–3 trades per pair</a:t>
            </a:r>
          </a:p>
          <a:p>
            <a:pPr>
              <a:spcAft>
                <a:spcPts val="6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Consensus ≠ profitability (Phase 1 finding)</a:t>
            </a:r>
          </a:p>
          <a:p>
            <a:pPr>
              <a:spcAft>
                <a:spcPts val="6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10bps flat cost is simplified</a:t>
            </a:r>
          </a:p>
          <a:p>
            <a:pPr>
              <a:spcAft>
                <a:spcPts val="6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No portfolio-level risk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5029200"/>
            <a:ext cx="8229600" cy="1188720"/>
          </a:xfrm>
          <a:prstGeom prst="roundRect">
            <a:avLst/>
          </a:prstGeom>
          <a:solidFill>
            <a:srgbClr val="002452"/>
          </a:solidFill>
          <a:ln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The framework generalizes beyond semiconductors. Transient correlations are real,</a:t>
            </a:r>
            <a:br/>
            <a:r>
              <a:t>statistically significant, and partially tradeable — but trade count remains the binding constraint.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2452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7AE6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2452"/>
                </a:solidFill>
                <a:latin typeface="Calibri"/>
              </a:defRPr>
            </a:pPr>
            <a:r>
              <a:t>Walk-Forward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11887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C3C3C"/>
                </a:solidFill>
                <a:latin typeface="Calibri"/>
              </a:defRPr>
            </a:pPr>
            <a:r>
              <a:t>5-split rolling cal/OOS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7AE6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87451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2452"/>
                </a:solidFill>
                <a:latin typeface="Calibri"/>
              </a:defRPr>
            </a:pPr>
            <a:r>
              <a:t>Adaptive Hedge Ratios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87451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C3C3C"/>
                </a:solidFill>
                <a:latin typeface="Calibri"/>
              </a:defRPr>
            </a:pPr>
            <a:r>
              <a:t>Kalman terminal beta estimation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7AE6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560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2452"/>
                </a:solidFill>
                <a:latin typeface="Calibri"/>
              </a:defRPr>
            </a:pPr>
            <a:r>
              <a:t>Expanded Universe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5603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C3C3C"/>
                </a:solidFill>
                <a:latin typeface="Calibri"/>
              </a:defRPr>
            </a:pPr>
            <a:r>
              <a:t>142 tickers, 5 sectors via 3-layer screening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46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7AE6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246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2452"/>
                </a:solidFill>
                <a:latin typeface="Calibri"/>
              </a:defRPr>
            </a:pPr>
            <a:r>
              <a:t>Transaction Costs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32461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C3C3C"/>
                </a:solidFill>
                <a:latin typeface="Calibri"/>
              </a:defRPr>
            </a:pPr>
            <a:r>
              <a:t>10bps round-trip incorporated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C3C3C"/>
                </a:solidFill>
                <a:latin typeface="Calibri"/>
              </a:defRPr>
            </a:pPr>
            <a:r>
              <a:t>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931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2452"/>
                </a:solidFill>
                <a:latin typeface="Calibri"/>
              </a:defRPr>
            </a:pPr>
            <a:r>
              <a:t>Real-Time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9319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C3C3C"/>
                </a:solidFill>
                <a:latin typeface="Calibri"/>
              </a:defRPr>
            </a:pPr>
            <a:r>
              <a:t>Live formation → validation → signal generation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17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C3C3C"/>
                </a:solidFill>
                <a:latin typeface="Calibri"/>
              </a:defRPr>
            </a:pPr>
            <a:r>
              <a:t>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617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2452"/>
                </a:solidFill>
                <a:latin typeface="Calibri"/>
              </a:defRPr>
            </a:pPr>
            <a:r>
              <a:t>Portfolio Optimization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46177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C3C3C"/>
                </a:solidFill>
                <a:latin typeface="Calibri"/>
              </a:defRPr>
            </a:pPr>
            <a:r>
              <a:t>Correlated pairs risk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303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C3C3C"/>
                </a:solidFill>
                <a:latin typeface="Calibri"/>
              </a:defRPr>
            </a:pPr>
            <a:r>
              <a:t>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303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2452"/>
                </a:solidFill>
                <a:latin typeface="Calibri"/>
              </a:defRPr>
            </a:pPr>
            <a:r>
              <a:t>Longer Historical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53035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C3C3C"/>
                </a:solidFill>
                <a:latin typeface="Calibri"/>
              </a:defRPr>
            </a:pPr>
            <a:r>
              <a:t>Multi-year hourly data for robust estimation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59436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2452"/>
                </a:solidFill>
                <a:latin typeface="Calibri"/>
              </a:defRPr>
            </a:pPr>
            <a: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