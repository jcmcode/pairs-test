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slide. This project explores using unsupervised clustering to discover pairs for trading, moving beyond traditional cointegration-based approaches.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Overview of the presentation structure. 8 sections covering the full research arc from motivation to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Traditional pairs trading screens all N-choose-2 pairs for cointegration, which is brute-force and gives no economic intuition. Our approach uses clustering to discover which stocks behave similarly, then validates those relationships statistically.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pipeline runs per-timestamp: compute 9 features for each ticker, standardize and reduce with PCA, cluster with OPTICS, then identify pairs from co-clustering. Features capture volatility, market/sector beta, momentum, and regime shifts. The regime shift features (short minus medium window) are the key signal for detecting WHEN relationships 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OPTICS selected as primary algorithm for Phase 2: best at detecting variable-density clusters and transient formations. The 58% noise rate is by design -- OPTICS only forms clusters when there is genuine feature similarity. Noise-adjusted frequency corrects the denominator to count only timestamps where both tickers are in real clusters.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1 was the proof of concept on 40 hand-picked semiconductor tickers. All three algorithms were run and compared.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8 consensus pairs all map to known semiconductor subsectors. Equipment (AMAT/LRCX/KLAC share fab customers), RF/5G (smartphone demand), Analog (industrial/auto), EDA (chip design duopoly). 54% of tradeable pairs were profitable OOS, but trade counts are low (2-5 per pair).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2 extends the framework to 142 systematically screened tickers across Technology, Healthcare, Energy, Financial Services, and Industrials.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three-layer pipeline systematically screens stocks. All tickers are clustered together in one combined universe -- cross-sector pairs emerge naturally. 7,836 total co-clustering pairs discovered; 3,643 pass the 0.08 noise-adjusted frequency threshold and are evaluated by the 5-test validation framework.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Cointegration assumes a permanent equilibrium relationship (Engle-Granger 1987). Transient correlations violate this assumption -- they form and dissolve over weeks. But the underlying spreads DO mean-revert (90.5% Hurst &lt; 0.5). The 5-test framework replaces binary cointegration with a graduated score. ADF and variance ratio are the hard differentiators; Hurst and half-life are easy passes.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59.0% of all scored pairs are tradeable (score &gt;= 3). Energy-Energy pairs have the highest average score (3.09), reflecting tight economic coupling in the oil &amp; gas sector. Intra-sector pairs outperform cross-sector on average, but cross-sector pairs can produce strong individual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RTX-SHEL is the most surprising cross-sector discovery: a defense contractor and energy major linked through geopolitical risk exposure. The crypto mining cluster (APLD/HUT/CIFR/IREN) spans Technology and Financial Services but shares common infrastructure and Bitcoin price exposure. ADT-NOW is the top-performing cross-sector pair with Sharpe 2.56 on 5 trades.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2 enhanced the backtesting methodology with three key improvements over Phase 1's simple static z-score approach.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Kalman strategy wins: 64% profitable even with 10bps costs (vs 54% baseline without costs). Critical fix: an earlier version used adaptive Kalman beta during OOS, which creates artificial mean-reversion because the filter's prediction error is white noise by construction. The terminal-beta approach freezes the hedge ratio at the end of calibration and applies it as a constant to OOS data. Z-score optimization is a grid search over entry/exit thresholds and lookback on calibration data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Walk-forward validation addresses the single-split limitation of the main backtest. AFRM-ZETA shows robust performance with Sharpe 2.07 persisting across all 5 temporal splits. ENPH-RUN has low variance (std 0.82) reflecting consistent solar energy sector coupling. COP-CVE included as contrast with lower Sharpe (0.45) but high trade count (16).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permutation test validates that co-clustering structure is non-random.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permutation test shuffles which ticker has which features, breaking any real clustering structure. Under the null hypothesis, ~5% of 3,539 pairs (~177) would exceed Z &gt; 1.645 by chance. The observed 1,148 is 6.5x this, indicating genuine signal. Top pairs (PBR-PBR.A, airlines, oil majors) have Z-scores far beyond any false discovery threshold. The Phase 1 pair AMAT-LRCX also appears (Z=25.13), confirming it generalizes to the larger universe.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framing: the current backtest of persistent pairs is a VALIDATION EXERCISE -- it proves the clustering finds real relationships. The unique edge of this methodology is in detecting transient formations (hours/days) that traditional traders don't monitor. The persistent pairs (airlines, energy) are a byproduct of similar fundamentals; the transient formations are where the unexploited signal lives. The statistical foundation (permutation testing, 5-test framework, Kalman hedge) is established and ready for the next step: event-driven transient trading.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2 completed the first four items from Phase 1's future work list. The star item -- transient event trading -- is the natural next step: using cluster formation/dissolution events as trade signals instead of static z-score strategies on persistent pairs. The formation/dissolution infrastructure already exists in the codebase. The remaining items support production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the audience and open the floor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4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Clustering-Driven Pair Discovery</a:t>
            </a:r>
            <a:br/>
            <a:r>
              <a:t>From Semiconductors to Cross-Sector Markets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4747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4C8DC"/>
                </a:solidFill>
                <a:latin typeface="Calibri"/>
              </a:defRPr>
            </a:pPr>
            <a:r>
              <a:t>Unsupervised Learning for Transient Correlation Detection Across 142 Tickers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5029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ABD00"/>
                </a:solidFill>
                <a:latin typeface="Calibri"/>
              </a:defRPr>
            </a:pPr>
            <a:r>
              <a:t>Queen's Quant Club  |  February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6464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2452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9144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3C3C3C"/>
                </a:solidFill>
                <a:latin typeface="Calibri"/>
              </a:defRPr>
            </a:pPr>
            <a:r>
              <a:t>1.  Motivation: Why clustering for pair discovery?</a:t>
            </a:r>
          </a:p>
          <a:p>
            <a:pPr>
              <a:spcAft>
                <a:spcPts val="600"/>
              </a:spcAft>
              <a:defRPr sz="2000">
                <a:solidFill>
                  <a:srgbClr val="3C3C3C"/>
                </a:solidFill>
                <a:latin typeface="Calibri"/>
              </a:defRPr>
            </a:pPr>
            <a:r>
              <a:t>2.  Methodology: Features, algorithms, pipeline</a:t>
            </a:r>
          </a:p>
          <a:p>
            <a:pPr>
              <a:spcAft>
                <a:spcPts val="600"/>
              </a:spcAft>
              <a:defRPr sz="2000">
                <a:solidFill>
                  <a:srgbClr val="3C3C3C"/>
                </a:solidFill>
                <a:latin typeface="Calibri"/>
              </a:defRPr>
            </a:pPr>
            <a:r>
              <a:t>3.  Phase 1: Semiconductor proof of concept</a:t>
            </a:r>
          </a:p>
          <a:p>
            <a:pPr>
              <a:spcAft>
                <a:spcPts val="600"/>
              </a:spcAft>
              <a:defRPr sz="2000">
                <a:solidFill>
                  <a:srgbClr val="3C3C3C"/>
                </a:solidFill>
                <a:latin typeface="Calibri"/>
              </a:defRPr>
            </a:pPr>
            <a:r>
              <a:t>4.  Phase 2: Cross-sector expansion (142 tickers, 5 sectors)</a:t>
            </a:r>
          </a:p>
          <a:p>
            <a:pPr>
              <a:spcAft>
                <a:spcPts val="600"/>
              </a:spcAft>
              <a:defRPr sz="2000">
                <a:solidFill>
                  <a:srgbClr val="3C3C3C"/>
                </a:solidFill>
                <a:latin typeface="Calibri"/>
              </a:defRPr>
            </a:pPr>
            <a:r>
              <a:t>5.  5-Test Validation Framework</a:t>
            </a:r>
          </a:p>
          <a:p>
            <a:pPr>
              <a:spcAft>
                <a:spcPts val="600"/>
              </a:spcAft>
              <a:defRPr sz="2000">
                <a:solidFill>
                  <a:srgbClr val="3C3C3C"/>
                </a:solidFill>
                <a:latin typeface="Calibri"/>
              </a:defRPr>
            </a:pPr>
            <a:r>
              <a:t>6.  Enhanced Backtesting &amp; Walk-Forward</a:t>
            </a:r>
          </a:p>
          <a:p>
            <a:pPr>
              <a:spcAft>
                <a:spcPts val="600"/>
              </a:spcAft>
              <a:defRPr sz="2000">
                <a:solidFill>
                  <a:srgbClr val="3C3C3C"/>
                </a:solidFill>
                <a:latin typeface="Calibri"/>
              </a:defRPr>
            </a:pPr>
            <a:r>
              <a:t>7.  Statistical Significance</a:t>
            </a:r>
          </a:p>
          <a:p>
            <a:pPr>
              <a:spcAft>
                <a:spcPts val="600"/>
              </a:spcAft>
              <a:defRPr sz="2000">
                <a:solidFill>
                  <a:srgbClr val="3C3C3C"/>
                </a:solidFill>
                <a:latin typeface="Calibri"/>
              </a:defRPr>
            </a:pPr>
            <a:r>
              <a:t>8.  Key Insights &amp;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6464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452"/>
                </a:solidFill>
                <a:latin typeface="Calibri"/>
              </a:defRPr>
            </a:pPr>
            <a:r>
              <a:t>The Problem: Finding Pairs to Trade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B91137"/>
                </a:solidFill>
                <a:latin typeface="Calibri"/>
              </a:defRPr>
            </a:pPr>
            <a:r>
              <a:t>Traditional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C3C3C"/>
                </a:solidFill>
                <a:latin typeface="Calibri"/>
              </a:defRPr>
            </a:pPr>
            <a:r>
              <a:t>Screen all C(N,2) combinations for cointegration</a:t>
            </a:r>
          </a:p>
          <a:p>
            <a:pPr>
              <a:spcAft>
                <a:spcPts val="600"/>
              </a:spcAft>
              <a:defRPr sz="1600">
                <a:solidFill>
                  <a:srgbClr val="3C3C3C"/>
                </a:solidFill>
                <a:latin typeface="Calibri"/>
              </a:defRPr>
            </a:pPr>
            <a:r>
              <a:t>For 142 stocks: 10,011 pairs to test</a:t>
            </a:r>
          </a:p>
          <a:p>
            <a:pPr>
              <a:spcAft>
                <a:spcPts val="600"/>
              </a:spcAft>
              <a:defRPr sz="1600">
                <a:solidFill>
                  <a:srgbClr val="3C3C3C"/>
                </a:solidFill>
                <a:latin typeface="Calibri"/>
              </a:defRPr>
            </a:pPr>
            <a:r>
              <a:t>High false discovery rate from multiple testing</a:t>
            </a:r>
          </a:p>
          <a:p>
            <a:pPr>
              <a:spcAft>
                <a:spcPts val="600"/>
              </a:spcAft>
              <a:defRPr sz="1600">
                <a:solidFill>
                  <a:srgbClr val="3C3C3C"/>
                </a:solidFill>
                <a:latin typeface="Calibri"/>
              </a:defRPr>
            </a:pPr>
            <a:r>
              <a:t>No insight into WHY pairs are related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7AE60"/>
                </a:solidFill>
                <a:latin typeface="Calibri"/>
              </a:defRPr>
            </a:pPr>
            <a:r>
              <a:t>Our Approach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0116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C3C3C"/>
                </a:solidFill>
                <a:latin typeface="Calibri"/>
              </a:defRPr>
            </a:pPr>
            <a:r>
              <a:t>Let clustering discover similar-behaving stocks</a:t>
            </a:r>
          </a:p>
          <a:p>
            <a:pPr>
              <a:spcAft>
                <a:spcPts val="600"/>
              </a:spcAft>
              <a:defRPr sz="1600">
                <a:solidFill>
                  <a:srgbClr val="3C3C3C"/>
                </a:solidFill>
                <a:latin typeface="Calibri"/>
              </a:defRPr>
            </a:pPr>
            <a:r>
              <a:t>Validate with a 5-test scored framework</a:t>
            </a:r>
          </a:p>
          <a:p>
            <a:pPr>
              <a:spcAft>
                <a:spcPts val="600"/>
              </a:spcAft>
              <a:defRPr sz="1600">
                <a:solidFill>
                  <a:srgbClr val="3C3C3C"/>
                </a:solidFill>
                <a:latin typeface="Calibri"/>
              </a:defRPr>
            </a:pPr>
            <a:r>
              <a:t>Compare across 3 different algorithms</a:t>
            </a:r>
          </a:p>
          <a:p>
            <a:pPr>
              <a:spcAft>
                <a:spcPts val="600"/>
              </a:spcAft>
              <a:defRPr sz="1600">
                <a:solidFill>
                  <a:srgbClr val="3C3C3C"/>
                </a:solidFill>
                <a:latin typeface="Calibri"/>
              </a:defRPr>
            </a:pPr>
            <a:r>
              <a:t>142 tickers, 5 sectors, 12 months hourly data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4846320"/>
            <a:ext cx="7315200" cy="1188720"/>
          </a:xfrm>
          <a:prstGeom prst="roundRect">
            <a:avLst/>
          </a:prstGeom>
          <a:solidFill>
            <a:srgbClr val="E6F0FA"/>
          </a:solidFill>
          <a:ln>
            <a:solidFill>
              <a:srgbClr val="002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2452"/>
                </a:solidFill>
                <a:latin typeface="Calibri"/>
              </a:defRPr>
            </a:pPr>
            <a:r>
              <a:t>Key Idea: Stocks that consistently cluster together based on</a:t>
            </a:r>
            <a:br/>
            <a:r>
              <a:t>real-time feature similarity are candidates for pairs trading.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008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6464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452"/>
                </a:solidFill>
                <a:latin typeface="Calibri"/>
              </a:defRPr>
            </a:pPr>
            <a:r>
              <a:t>Pipeline Overview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463040"/>
            <a:ext cx="1371600" cy="822960"/>
          </a:xfrm>
          <a:prstGeom prst="roundRect">
            <a:avLst/>
          </a:prstGeom>
          <a:solidFill>
            <a:srgbClr val="002452"/>
          </a:solidFill>
          <a:ln>
            <a:solidFill>
              <a:srgbClr val="002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Data</a:t>
            </a:r>
          </a:p>
          <a:p>
            <a:pPr algn="ctr">
              <a:defRPr sz="1000">
                <a:solidFill>
                  <a:srgbClr val="C8DCF0"/>
                </a:solidFill>
                <a:latin typeface="Calibri"/>
              </a:defRPr>
            </a:pPr>
            <a:r>
              <a:t>Yahoo Finance</a:t>
            </a:r>
            <a:br/>
            <a:r>
              <a:t>Hourly OHLCV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194560" y="1463040"/>
            <a:ext cx="1371600" cy="822960"/>
          </a:xfrm>
          <a:prstGeom prst="roundRect">
            <a:avLst/>
          </a:prstGeom>
          <a:solidFill>
            <a:srgbClr val="002452"/>
          </a:solidFill>
          <a:ln>
            <a:solidFill>
              <a:srgbClr val="002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Features</a:t>
            </a:r>
          </a:p>
          <a:p>
            <a:pPr algn="ctr">
              <a:defRPr sz="1000">
                <a:solidFill>
                  <a:srgbClr val="C8DCF0"/>
                </a:solidFill>
                <a:latin typeface="Calibri"/>
              </a:defRPr>
            </a:pPr>
            <a:r>
              <a:t>9 per ticker</a:t>
            </a:r>
            <a:br/>
            <a:r>
              <a:t>per timestamp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31920" y="1463040"/>
            <a:ext cx="1371600" cy="822960"/>
          </a:xfrm>
          <a:prstGeom prst="roundRect">
            <a:avLst/>
          </a:prstGeom>
          <a:solidFill>
            <a:srgbClr val="002452"/>
          </a:solidFill>
          <a:ln>
            <a:solidFill>
              <a:srgbClr val="002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Normalize</a:t>
            </a:r>
          </a:p>
          <a:p>
            <a:pPr algn="ctr">
              <a:defRPr sz="1000">
                <a:solidFill>
                  <a:srgbClr val="C8DCF0"/>
                </a:solidFill>
                <a:latin typeface="Calibri"/>
              </a:defRPr>
            </a:pPr>
            <a:r>
              <a:t>StandardScaler</a:t>
            </a:r>
            <a:br/>
            <a:r>
              <a:t>+ PCA (90%)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0" y="1463040"/>
            <a:ext cx="1371600" cy="822960"/>
          </a:xfrm>
          <a:prstGeom prst="roundRect">
            <a:avLst/>
          </a:prstGeom>
          <a:solidFill>
            <a:srgbClr val="002452"/>
          </a:solidFill>
          <a:ln>
            <a:solidFill>
              <a:srgbClr val="002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Cluster</a:t>
            </a:r>
          </a:p>
          <a:p>
            <a:pPr algn="ctr">
              <a:defRPr sz="1000">
                <a:solidFill>
                  <a:srgbClr val="C8DCF0"/>
                </a:solidFill>
                <a:latin typeface="Calibri"/>
              </a:defRPr>
            </a:pPr>
            <a:r>
              <a:t>OPTICS</a:t>
            </a:r>
            <a:br/>
            <a:r>
              <a:t>per timestamp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0" y="1463040"/>
            <a:ext cx="1371600" cy="822960"/>
          </a:xfrm>
          <a:prstGeom prst="roundRect">
            <a:avLst/>
          </a:prstGeom>
          <a:solidFill>
            <a:srgbClr val="002452"/>
          </a:solidFill>
          <a:ln>
            <a:solidFill>
              <a:srgbClr val="002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Discover</a:t>
            </a:r>
          </a:p>
          <a:p>
            <a:pPr algn="ctr">
              <a:defRPr sz="1000">
                <a:solidFill>
                  <a:srgbClr val="C8DCF0"/>
                </a:solidFill>
                <a:latin typeface="Calibri"/>
              </a:defRPr>
            </a:pPr>
            <a:r>
              <a:t>Co-clustering</a:t>
            </a:r>
            <a:br/>
            <a:r>
              <a:t>pairs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1463040"/>
            <a:ext cx="1371600" cy="822960"/>
          </a:xfrm>
          <a:prstGeom prst="roundRect">
            <a:avLst/>
          </a:prstGeom>
          <a:solidFill>
            <a:srgbClr val="002452"/>
          </a:solidFill>
          <a:ln>
            <a:solidFill>
              <a:srgbClr val="002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Validate</a:t>
            </a:r>
          </a:p>
          <a:p>
            <a:pPr algn="ctr">
              <a:defRPr sz="1000">
                <a:solidFill>
                  <a:srgbClr val="C8DCF0"/>
                </a:solidFill>
                <a:latin typeface="Calibri"/>
              </a:defRPr>
            </a:pPr>
            <a:r>
              <a:t>5-test scored</a:t>
            </a:r>
            <a:br/>
            <a:r>
              <a:t>framework</a:t>
            </a:r>
          </a:p>
        </p:txBody>
      </p:sp>
      <p:sp>
        <p:nvSpPr>
          <p:cNvPr id="9" name="Right Arrow 8"/>
          <p:cNvSpPr/>
          <p:nvPr/>
        </p:nvSpPr>
        <p:spPr>
          <a:xfrm>
            <a:off x="1783080" y="1737360"/>
            <a:ext cx="365760" cy="274320"/>
          </a:xfrm>
          <a:prstGeom prst="rightArrow">
            <a:avLst/>
          </a:prstGeom>
          <a:solidFill>
            <a:srgbClr val="B91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3520440" y="1737360"/>
            <a:ext cx="365760" cy="274320"/>
          </a:xfrm>
          <a:prstGeom prst="rightArrow">
            <a:avLst/>
          </a:prstGeom>
          <a:solidFill>
            <a:srgbClr val="B91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5257800" y="1737360"/>
            <a:ext cx="365760" cy="274320"/>
          </a:xfrm>
          <a:prstGeom prst="rightArrow">
            <a:avLst/>
          </a:prstGeom>
          <a:solidFill>
            <a:srgbClr val="B91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6995160" y="1737360"/>
            <a:ext cx="365760" cy="274320"/>
          </a:xfrm>
          <a:prstGeom prst="rightArrow">
            <a:avLst/>
          </a:prstGeom>
          <a:solidFill>
            <a:srgbClr val="B91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8732520" y="1737360"/>
            <a:ext cx="365760" cy="274320"/>
          </a:xfrm>
          <a:prstGeom prst="rightArrow">
            <a:avLst/>
          </a:prstGeom>
          <a:solidFill>
            <a:srgbClr val="B91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332720" y="1463040"/>
            <a:ext cx="1188720" cy="822960"/>
          </a:xfrm>
          <a:prstGeom prst="roundRect">
            <a:avLst/>
          </a:prstGeom>
          <a:solidFill>
            <a:srgbClr val="B91137"/>
          </a:solidFill>
          <a:ln>
            <a:solidFill>
              <a:srgbClr val="B911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Backtest</a:t>
            </a:r>
          </a:p>
          <a:p>
            <a:pPr algn="ctr">
              <a:defRPr sz="1000">
                <a:solidFill>
                  <a:srgbClr val="C8DCF0"/>
                </a:solidFill>
                <a:latin typeface="Calibri"/>
              </a:defRPr>
            </a:pPr>
            <a:r>
              <a:t>Walk-forward</a:t>
            </a:r>
            <a:br/>
            <a:r>
              <a:t>+ Kalman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10058400" y="1737360"/>
            <a:ext cx="365760" cy="274320"/>
          </a:xfrm>
          <a:prstGeom prst="rightArrow">
            <a:avLst/>
          </a:prstGeom>
          <a:solidFill>
            <a:srgbClr val="B91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743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452"/>
                </a:solidFill>
                <a:latin typeface="Calibri"/>
              </a:defRPr>
            </a:pPr>
            <a:r>
              <a:t>Feature Set (9 features per ticker per timestamp)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371600" y="3291840"/>
          <a:ext cx="9144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572000"/>
                <a:gridCol w="2286000"/>
              </a:tblGrid>
              <a:tr h="418011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Feature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Window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Volatility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Short-term rolling σ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50h (~1 week)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Market exposure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Rolling β to S&amp;P 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50h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Sector exposure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Rolling β to leave-one-out sector avg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50h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Momentum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RSI (70h) + 5-hour return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70h / Instant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Regime shift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Δσ, Δβ_SPX, Δβ_sector (short − medium)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50h vs 147h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Returns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Hourly return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Instantaneous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1430000" y="64008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6464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452"/>
                </a:solidFill>
                <a:latin typeface="Calibri"/>
              </a:defRPr>
            </a:pPr>
            <a:r>
              <a:t>Three Algorithms, One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C3C3C"/>
                </a:solidFill>
                <a:latin typeface="Calibri"/>
              </a:defRPr>
            </a:pPr>
            <a:r>
              <a:t>If different algorithms with different inductive biases find the same pairs, those relationships are robust.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828800"/>
          <a:ext cx="9144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194560"/>
                <a:gridCol w="2194560"/>
                <a:gridCol w="219456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OPTICS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DBSCAN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KMeans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Density-based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Density-based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Centroid-based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k required?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No (auto)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No (auto)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Yes (silhouette)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Noise handling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Native (-1 label)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Native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Post-hoc filter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Avg noise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28%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~10%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Avg clusters/ts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3.3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1.5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3.1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OOS stability (r)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0.832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0.627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914400" y="5303520"/>
            <a:ext cx="10058400" cy="1097280"/>
          </a:xfrm>
          <a:prstGeom prst="roundRect">
            <a:avLst/>
          </a:prstGeom>
          <a:solidFill>
            <a:srgbClr val="E6F0FA"/>
          </a:solidFill>
          <a:ln>
            <a:solidFill>
              <a:srgbClr val="002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2452"/>
                </a:solidFill>
                <a:latin typeface="Calibri"/>
              </a:defRPr>
            </a:pPr>
            <a:r>
              <a:t>Noise-Adjusted Frequency:  f(A,B) = co-cluster count / timestamps where BOTH are non-noise</a:t>
            </a:r>
            <a:br/>
            <a:r>
              <a:t>With 58% noise rate, raw frequency drastically understates true relationship strength.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008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6464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4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Phase 1: Semiconductors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4C8DC"/>
                </a:solidFill>
                <a:latin typeface="Calibri"/>
              </a:defRPr>
            </a:pPr>
            <a:r>
              <a:t>40 tickers  |  3 algorithms  |  8 consensus pairs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6464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452"/>
                </a:solidFill>
                <a:latin typeface="Calibri"/>
              </a:defRPr>
            </a:pPr>
            <a:r>
              <a:t>8 Consensus Pairs Across All Algorithms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6464"/>
                </a:solidFill>
                <a:latin typeface="Calibri"/>
              </a:defRPr>
            </a:pPr>
            <a:r>
              <a:t>Pairs appearing in every algorithm's top-20 by co-clustering frequency: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51206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914400"/>
                <a:gridCol w="914400"/>
                <a:gridCol w="914400"/>
                <a:gridCol w="1097280"/>
              </a:tblGrid>
              <a:tr h="4064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Pair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OPTICS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KMeans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DBSCAN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Subsector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KLAC–LRCX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0.378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0.785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0.851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Equipment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QRVO–SWKS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0.372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0.888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0.828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RF / 5G</a:t>
                      </a:r>
                    </a:p>
                  </a:txBody>
                  <a:tcPr/>
                </a:tc>
              </a:tr>
              <a:tr h="4064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AMAT–LRCX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0.363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0.824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0.845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Equipment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AMAT–KLAC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0.340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0.807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0.814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Equipment</a:t>
                      </a:r>
                    </a:p>
                  </a:txBody>
                  <a:tcPr/>
                </a:tc>
              </a:tr>
              <a:tr h="4064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ADI–NXPI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0.279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0.816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0.900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Analog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ADI–TXN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0.278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0.887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0.817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Analog</a:t>
                      </a:r>
                    </a:p>
                  </a:txBody>
                  <a:tcPr/>
                </a:tc>
              </a:tr>
              <a:tr h="4064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NXPI–TXN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0.223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0.819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0.806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Analog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ADI–SWKS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0.216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0.830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0.830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Analog/RF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0058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452"/>
                </a:solidFill>
                <a:latin typeface="Calibri"/>
              </a:defRPr>
            </a:pPr>
            <a:r>
              <a:t>Discovered Industry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6464"/>
                </a:solidFill>
                <a:latin typeface="Calibri"/>
              </a:defRPr>
            </a:pPr>
            <a:r>
              <a:t>No fundamental data as input — only price-derived features: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920240"/>
            <a:ext cx="5029200" cy="594360"/>
          </a:xfrm>
          <a:prstGeom prst="roundRect">
            <a:avLst/>
          </a:prstGeom>
          <a:solidFill>
            <a:srgbClr val="F0F0F0"/>
          </a:solidFill>
          <a:ln>
            <a:solidFill>
              <a:srgbClr val="002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99339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452"/>
                </a:solidFill>
                <a:latin typeface="Calibri"/>
              </a:defRPr>
            </a:pPr>
            <a:r>
              <a:t>Equipment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99339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C3C3C"/>
                </a:solidFill>
                <a:latin typeface="Calibri"/>
              </a:defRPr>
            </a:pPr>
            <a:r>
              <a:t>AMAT, LRCX, KLAC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651760"/>
            <a:ext cx="5029200" cy="594360"/>
          </a:xfrm>
          <a:prstGeom prst="roundRect">
            <a:avLst/>
          </a:prstGeom>
          <a:solidFill>
            <a:srgbClr val="F0F0F0"/>
          </a:solidFill>
          <a:ln>
            <a:solidFill>
              <a:srgbClr val="002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72491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452"/>
                </a:solidFill>
                <a:latin typeface="Calibri"/>
              </a:defRPr>
            </a:pPr>
            <a:r>
              <a:t>RF / 5G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72491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C3C3C"/>
                </a:solidFill>
                <a:latin typeface="Calibri"/>
              </a:defRPr>
            </a:pPr>
            <a:r>
              <a:t>QRVO, SWKS, QCOM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3383280"/>
            <a:ext cx="5029200" cy="594360"/>
          </a:xfrm>
          <a:prstGeom prst="roundRect">
            <a:avLst/>
          </a:prstGeom>
          <a:solidFill>
            <a:srgbClr val="F0F0F0"/>
          </a:solidFill>
          <a:ln>
            <a:solidFill>
              <a:srgbClr val="002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345643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452"/>
                </a:solidFill>
                <a:latin typeface="Calibri"/>
              </a:defRPr>
            </a:pPr>
            <a:r>
              <a:t>Analog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45643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C3C3C"/>
                </a:solidFill>
                <a:latin typeface="Calibri"/>
              </a:defRPr>
            </a:pPr>
            <a:r>
              <a:t>ADI, NXPI, TXN, MCHP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4114800"/>
            <a:ext cx="5029200" cy="594360"/>
          </a:xfrm>
          <a:prstGeom prst="roundRect">
            <a:avLst/>
          </a:prstGeom>
          <a:solidFill>
            <a:srgbClr val="F0F0F0"/>
          </a:solidFill>
          <a:ln>
            <a:solidFill>
              <a:srgbClr val="002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418795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452"/>
                </a:solidFill>
                <a:latin typeface="Calibri"/>
              </a:defRPr>
            </a:pPr>
            <a:r>
              <a:t>EDA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418795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C3C3C"/>
                </a:solidFill>
                <a:latin typeface="Calibri"/>
              </a:defRPr>
            </a:pPr>
            <a:r>
              <a:t>CDNS, SNPS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3035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C3C3C"/>
                </a:solidFill>
                <a:latin typeface="Calibri"/>
              </a:defRPr>
            </a:pPr>
            <a:r>
              <a:t>14/26 tradeable pairs profitable OOS (54%). Top Sharpe: NXPI–ON 3.55, CDNS–SNPS 2.08.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760720"/>
            <a:ext cx="10515600" cy="731520"/>
          </a:xfrm>
          <a:prstGeom prst="roundRect">
            <a:avLst/>
          </a:prstGeom>
          <a:solidFill>
            <a:srgbClr val="E6F0FA"/>
          </a:solidFill>
          <a:ln>
            <a:solidFill>
              <a:srgbClr val="002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2452"/>
                </a:solidFill>
                <a:latin typeface="Calibri"/>
              </a:defRPr>
            </a:pPr>
            <a:r>
              <a:t>Data-driven clustering converges with known industry structure → discovered relationships are real, not noise.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0" y="64008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6464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4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Phase 2: Cross-Sector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4C8DC"/>
                </a:solidFill>
                <a:latin typeface="Calibri"/>
              </a:defRPr>
            </a:pPr>
            <a:r>
              <a:t>142 tickers  |  5 sectors  |  3,643 pairs scored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6464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452"/>
                </a:solidFill>
                <a:latin typeface="Calibri"/>
              </a:defRPr>
            </a:pPr>
            <a:r>
              <a:t>Universe Construction: 3-Layer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280160"/>
            <a:ext cx="9875520" cy="731520"/>
          </a:xfrm>
          <a:prstGeom prst="roundRect">
            <a:avLst/>
          </a:prstGeom>
          <a:solidFill>
            <a:srgbClr val="F0F0F0"/>
          </a:solidFill>
          <a:ln>
            <a:solidFill>
              <a:srgbClr val="002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2452"/>
                </a:solidFill>
                <a:latin typeface="Calibri"/>
              </a:defRPr>
            </a:pPr>
            <a:r>
              <a:t>Layer 1: Liquidity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37160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C3C3C"/>
                </a:solidFill>
                <a:latin typeface="Calibri"/>
              </a:defRPr>
            </a:pPr>
            <a:r>
              <a:t>US-listed, market cap &gt; $2B, volume &gt; 5M/day, price &gt; $5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2194560"/>
            <a:ext cx="9875520" cy="731520"/>
          </a:xfrm>
          <a:prstGeom prst="roundRect">
            <a:avLst/>
          </a:prstGeom>
          <a:solidFill>
            <a:srgbClr val="F0F0F0"/>
          </a:solidFill>
          <a:ln>
            <a:solidFill>
              <a:srgbClr val="002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2860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2452"/>
                </a:solidFill>
                <a:latin typeface="Calibri"/>
              </a:defRPr>
            </a:pPr>
            <a:r>
              <a:t>Layer 2: Sector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228600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C3C3C"/>
                </a:solidFill>
                <a:latin typeface="Calibri"/>
              </a:defRPr>
            </a:pPr>
            <a:r>
              <a:t>Technology, Healthcare, Energy, Financial Services, Industrials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3108960"/>
            <a:ext cx="9875520" cy="731520"/>
          </a:xfrm>
          <a:prstGeom prst="roundRect">
            <a:avLst/>
          </a:prstGeom>
          <a:solidFill>
            <a:srgbClr val="F0F0F0"/>
          </a:solidFill>
          <a:ln>
            <a:solidFill>
              <a:srgbClr val="002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2452"/>
                </a:solidFill>
                <a:latin typeface="Calibri"/>
              </a:defRPr>
            </a:pPr>
            <a:r>
              <a:t>Layer 3: Quality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320040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C3C3C"/>
                </a:solidFill>
                <a:latin typeface="Calibri"/>
              </a:defRPr>
            </a:pPr>
            <a:r>
              <a:t>Positive EBITDA + data quality (&gt;80% coverage, &lt;5% zero prices)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2976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2452"/>
                </a:solidFill>
                <a:latin typeface="Calibri"/>
              </a:defRPr>
            </a:pPr>
            <a:r>
              <a:t>Key Design Decisions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84632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C3C3C"/>
                </a:solidFill>
                <a:latin typeface="Calibri"/>
              </a:defRPr>
            </a:pPr>
            <a:r>
              <a:t>All 142 tickers clustered together (not per-sector) — cross-sector pairs discovered organically</a:t>
            </a:r>
          </a:p>
          <a:p>
            <a:pPr>
              <a:spcAft>
                <a:spcPts val="600"/>
              </a:spcAft>
              <a:defRPr sz="1500">
                <a:solidFill>
                  <a:srgbClr val="3C3C3C"/>
                </a:solidFill>
                <a:latin typeface="Calibri"/>
              </a:defRPr>
            </a:pPr>
            <a:r>
              <a:t>7,836 co-clustering pairs identified; 3,643 scored by 5-test framework at 0.08 noise-adjusted frequency threshold</a:t>
            </a:r>
          </a:p>
          <a:p>
            <a:pPr>
              <a:spcAft>
                <a:spcPts val="600"/>
              </a:spcAft>
              <a:defRPr sz="1500">
                <a:solidFill>
                  <a:srgbClr val="3C3C3C"/>
                </a:solidFill>
                <a:latin typeface="Calibri"/>
              </a:defRPr>
            </a:pPr>
            <a:r>
              <a:t>Frequency threshold lowered from 0.15 (Phase 1) to 0.08 — at 0.15, zero cross-sector pairs survive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008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6464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452"/>
                </a:solidFill>
                <a:latin typeface="Calibri"/>
              </a:defRPr>
            </a:pPr>
            <a:r>
              <a:t>Why Cointegration Fails &amp; The 5-Test Solution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5029200" cy="1828800"/>
          </a:xfrm>
          <a:prstGeom prst="roundRect">
            <a:avLst/>
          </a:prstGeom>
          <a:solidFill>
            <a:srgbClr val="FFEBEB"/>
          </a:solidFill>
          <a:ln>
            <a:solidFill>
              <a:srgbClr val="B911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280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91137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C3C3C"/>
                </a:solidFill>
                <a:latin typeface="Calibri"/>
              </a:defRPr>
            </a:pPr>
            <a:r>
              <a:t>Engle-Granger cointegration: 0% pass rate</a:t>
            </a:r>
          </a:p>
          <a:p>
            <a:pPr>
              <a:spcAft>
                <a:spcPts val="600"/>
              </a:spcAft>
              <a:defRPr sz="1400">
                <a:solidFill>
                  <a:srgbClr val="3C3C3C"/>
                </a:solidFill>
                <a:latin typeface="Calibri"/>
              </a:defRPr>
            </a:pPr>
            <a:r>
              <a:t>Tests for long-run equilibrium — wrong model</a:t>
            </a:r>
          </a:p>
          <a:p>
            <a:pPr>
              <a:spcAft>
                <a:spcPts val="600"/>
              </a:spcAft>
              <a:defRPr sz="1400">
                <a:solidFill>
                  <a:srgbClr val="3C3C3C"/>
                </a:solidFill>
                <a:latin typeface="Calibri"/>
              </a:defRPr>
            </a:pPr>
            <a:r>
              <a:t>Yet Hurst passes 90.5%, Half-life 82.3%</a:t>
            </a:r>
          </a:p>
          <a:p>
            <a:pPr>
              <a:spcAft>
                <a:spcPts val="600"/>
              </a:spcAft>
              <a:defRPr sz="1400">
                <a:solidFill>
                  <a:srgbClr val="3C3C3C"/>
                </a:solidFill>
                <a:latin typeface="Calibri"/>
              </a:defRPr>
            </a:pPr>
            <a:r>
              <a:t>Spreads DO mean-revert, just not permanently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188720"/>
            <a:ext cx="5029200" cy="1828800"/>
          </a:xfrm>
          <a:prstGeom prst="roundRect">
            <a:avLst/>
          </a:prstGeom>
          <a:solidFill>
            <a:srgbClr val="E6FAEB"/>
          </a:solidFill>
          <a:ln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1280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  <a:latin typeface="Calibri"/>
              </a:defRPr>
            </a:pPr>
            <a:r>
              <a:t>The Solution: 5-Test Scored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73736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C3C3C"/>
                </a:solidFill>
                <a:latin typeface="Calibri"/>
              </a:defRPr>
            </a:pPr>
            <a:r>
              <a:t>Each test scores 0 or 1 (total 0–5)</a:t>
            </a:r>
          </a:p>
          <a:p>
            <a:pPr>
              <a:spcAft>
                <a:spcPts val="600"/>
              </a:spcAft>
              <a:defRPr sz="1400">
                <a:solidFill>
                  <a:srgbClr val="3C3C3C"/>
                </a:solidFill>
                <a:latin typeface="Calibri"/>
              </a:defRPr>
            </a:pPr>
            <a:r>
              <a:t>Strong (4–5), Moderate (3), Weak (2), Fail (&lt;2)</a:t>
            </a:r>
          </a:p>
          <a:p>
            <a:pPr>
              <a:spcAft>
                <a:spcPts val="600"/>
              </a:spcAft>
              <a:defRPr sz="1400">
                <a:solidFill>
                  <a:srgbClr val="3C3C3C"/>
                </a:solidFill>
                <a:latin typeface="Calibri"/>
              </a:defRPr>
            </a:pPr>
            <a:r>
              <a:t>59.0% of pairs are tradeable (score ≥ 3)</a:t>
            </a:r>
          </a:p>
          <a:p>
            <a:pPr>
              <a:spcAft>
                <a:spcPts val="600"/>
              </a:spcAft>
              <a:defRPr sz="1400">
                <a:solidFill>
                  <a:srgbClr val="3C3C3C"/>
                </a:solidFill>
                <a:latin typeface="Calibri"/>
              </a:defRPr>
            </a:pPr>
            <a:r>
              <a:t>vs 0% with cointegration!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371600" y="3291840"/>
          <a:ext cx="9144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828800"/>
                <a:gridCol w="1371600"/>
                <a:gridCol w="3931920"/>
              </a:tblGrid>
              <a:tr h="48768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Test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Threshold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Pass Rate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Role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ADF on spread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p &lt; 0.10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38.3%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Stationarity (hard)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Half-life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5–60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82.3%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Mean-reversion speed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Hurst exponent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H &lt; 0.5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90.5%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Mean-reverting (easy)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Variance ratio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Reject RW @10%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Short-run MR (hardest)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Rolling corr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Stability &gt; 0.5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34.7%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Return corr persistence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1430000" y="64008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6464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452"/>
                </a:solidFill>
                <a:latin typeface="Calibri"/>
              </a:defRPr>
            </a:pPr>
            <a:r>
              <a:t>Score Distribution (3,643 Pairs)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47548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371600"/>
                <a:gridCol w="1371600"/>
              </a:tblGrid>
              <a:tr h="48768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Classification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Count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%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Strong (4–5)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605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16.6%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Moderate (3)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1,543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42.4%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Weak (2)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1,200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32.9%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Fail (0–1)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295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8.1%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Tradeable (≥ 3)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2,148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59.0%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0" y="914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452"/>
                </a:solidFill>
                <a:latin typeface="Calibri"/>
              </a:defRPr>
            </a:pPr>
            <a:r>
              <a:t>Intra-Sector vs Cross-Sector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17920" y="1463040"/>
          <a:ext cx="53035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822960"/>
                <a:gridCol w="1005840"/>
                <a:gridCol w="1097280"/>
                <a:gridCol w="100584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Pairs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Avg Score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Tradeable %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Avg Sharpe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Intra-sector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1,442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2.77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64.1%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1.95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Cross-sector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2,201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2.62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55.6%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1.59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200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452"/>
                </a:solidFill>
                <a:latin typeface="Calibri"/>
              </a:defRPr>
            </a:pPr>
            <a:r>
              <a:t>Top Sector Combinations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17920" y="3749039"/>
          <a:ext cx="53035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097280"/>
                <a:gridCol w="1645920"/>
              </a:tblGrid>
              <a:tr h="4267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Sectors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Pairs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Avg Score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Technology–Technology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880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2.64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Energy–Energy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270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3.09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Industrials–Technology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243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2.79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Healthcare–Technology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197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2.57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Healthcare–Healthcare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183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2.88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" y="4572000"/>
            <a:ext cx="4754880" cy="1371600"/>
          </a:xfrm>
          <a:prstGeom prst="roundRect">
            <a:avLst/>
          </a:prstGeom>
          <a:solidFill>
            <a:srgbClr val="E6F0FA"/>
          </a:solidFill>
          <a:ln>
            <a:solidFill>
              <a:srgbClr val="002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2452"/>
                </a:solidFill>
                <a:latin typeface="Calibri"/>
              </a:defRPr>
            </a:pPr>
            <a:r>
              <a:t>Intra-sector pairs have higher scores on average,</a:t>
            </a:r>
            <a:br/>
            <a:r>
              <a:t>but cross-sector pairs produce the best individual</a:t>
            </a:r>
            <a:br/>
            <a:r>
              <a:t>Sharpe ratio (2.56 for ADT–NOW).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008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6464"/>
                </a:solidFill>
                <a:latin typeface="Calibr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452"/>
                </a:solidFill>
                <a:latin typeface="Calibri"/>
              </a:defRPr>
            </a:pPr>
            <a:r>
              <a:t>Cross-Sector Discoveries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5029200" cy="1828800"/>
          </a:xfrm>
          <a:prstGeom prst="roundRect">
            <a:avLst/>
          </a:prstGeom>
          <a:solidFill>
            <a:srgbClr val="E6F0FA"/>
          </a:solidFill>
          <a:ln>
            <a:solidFill>
              <a:srgbClr val="002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280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452"/>
                </a:solidFill>
                <a:latin typeface="Calibri"/>
              </a:defRPr>
            </a:pPr>
            <a:r>
              <a:t>RTX–SHEL (Score 4, Strong)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C3C3C"/>
                </a:solidFill>
                <a:latin typeface="Calibri"/>
              </a:defRPr>
            </a:pPr>
            <a:r>
              <a:t>Industrials / Energy cross-sector link</a:t>
            </a:r>
          </a:p>
          <a:p>
            <a:pPr>
              <a:spcAft>
                <a:spcPts val="600"/>
              </a:spcAft>
              <a:defRPr sz="1400">
                <a:solidFill>
                  <a:srgbClr val="3C3C3C"/>
                </a:solidFill>
                <a:latin typeface="Calibri"/>
              </a:defRPr>
            </a:pPr>
            <a:r>
              <a:t>Defense contractor ↔ Energy major</a:t>
            </a:r>
          </a:p>
          <a:p>
            <a:pPr>
              <a:spcAft>
                <a:spcPts val="600"/>
              </a:spcAft>
              <a:defRPr sz="1400">
                <a:solidFill>
                  <a:srgbClr val="3C3C3C"/>
                </a:solidFill>
                <a:latin typeface="Calibri"/>
              </a:defRPr>
            </a:pPr>
            <a:r>
              <a:t>Enhanced PnL: +10.07, Kalman: +13.87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188720"/>
            <a:ext cx="5029200" cy="1828800"/>
          </a:xfrm>
          <a:prstGeom prst="roundRect">
            <a:avLst/>
          </a:prstGeom>
          <a:solidFill>
            <a:srgbClr val="E6F0FA"/>
          </a:solidFill>
          <a:ln>
            <a:solidFill>
              <a:srgbClr val="002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1280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452"/>
                </a:solidFill>
                <a:latin typeface="Calibri"/>
              </a:defRPr>
            </a:pPr>
            <a:r>
              <a:t>Crypto Mining Cluster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73736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C3C3C"/>
                </a:solidFill>
                <a:latin typeface="Calibri"/>
              </a:defRPr>
            </a:pPr>
            <a:r>
              <a:t>APLD / HUT / CIFR / IREN across Tech &amp; FinServ</a:t>
            </a:r>
          </a:p>
          <a:p>
            <a:pPr>
              <a:spcAft>
                <a:spcPts val="600"/>
              </a:spcAft>
              <a:defRPr sz="1400">
                <a:solidFill>
                  <a:srgbClr val="3C3C3C"/>
                </a:solidFill>
                <a:latin typeface="Calibri"/>
              </a:defRPr>
            </a:pPr>
            <a:r>
              <a:t>APLD-HUT: Score 4 (Strong)</a:t>
            </a:r>
          </a:p>
          <a:p>
            <a:pPr>
              <a:spcAft>
                <a:spcPts val="600"/>
              </a:spcAft>
              <a:defRPr sz="1400">
                <a:solidFill>
                  <a:srgbClr val="3C3C3C"/>
                </a:solidFill>
                <a:latin typeface="Calibri"/>
              </a:defRPr>
            </a:pPr>
            <a:r>
              <a:t>Meaningful economic link: shared infrastructure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452"/>
                </a:solidFill>
                <a:latin typeface="Calibri"/>
              </a:defRPr>
            </a:pPr>
            <a:r>
              <a:t>Top Pairs (by score then Sharpe, min 5 OOS trades)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371600" y="3840480"/>
          <a:ext cx="80467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828800"/>
                <a:gridCol w="914400"/>
                <a:gridCol w="1097280"/>
                <a:gridCol w="1097280"/>
                <a:gridCol w="1097280"/>
                <a:gridCol w="1097280"/>
              </a:tblGrid>
              <a:tr h="4267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Pair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Score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ADF p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Hurst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Trades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Sharpe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Cross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ADT–NOW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0.0002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0.11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2.56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Intra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APH–TSM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0.529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1.93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Cross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CRBG–NOW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0.323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0.33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1.64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Intra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CRBG–WU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0.178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1.96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Cross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DXCM–NOK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0.312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0.29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0.57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11430000" y="64008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6464"/>
                </a:solidFill>
                <a:latin typeface="Calibr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4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Enhanced Backtesting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4C8DC"/>
                </a:solidFill>
                <a:latin typeface="Calibri"/>
              </a:defRPr>
            </a:pPr>
            <a:r>
              <a:t>Adaptive z-scores  |  Kalman hedge  |  Walk-forward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6464"/>
                </a:solidFill>
                <a:latin typeface="Calibri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452"/>
                </a:solidFill>
                <a:latin typeface="Calibri"/>
              </a:defRPr>
            </a:pPr>
            <a:r>
              <a:t>Three-Strategy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6464"/>
                </a:solidFill>
                <a:latin typeface="Calibri"/>
              </a:defRPr>
            </a:pPr>
            <a:r>
              <a:t>50 tradeable pairs backtested (of 2,148 scoring ≥ 3; remainder had insufficient calibration trades for z-score optimization).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463040"/>
          <a:ext cx="8686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200400"/>
                <a:gridCol w="1371600"/>
                <a:gridCol w="137160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Strategy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Trades/Pair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Profitable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Avg PnL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Static z=2.0, OLS, no costs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1.9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54%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0.123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Enhanced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Optimized z, OLS, 10bps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57%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0.166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Kalman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Optimized z, Kalman β, 10bps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2.6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64%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0.895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3566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2452"/>
                </a:solidFill>
                <a:latin typeface="Calibri"/>
              </a:defRPr>
            </a:pPr>
            <a:r>
              <a:t>Kalman Terminal Beta Fix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14800"/>
            <a:ext cx="5029200" cy="1005840"/>
          </a:xfrm>
          <a:prstGeom prst="roundRect">
            <a:avLst/>
          </a:prstGeom>
          <a:solidFill>
            <a:srgbClr val="FFEBEB"/>
          </a:solidFill>
          <a:ln>
            <a:solidFill>
              <a:srgbClr val="B911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B91137"/>
                </a:solidFill>
                <a:latin typeface="Calibri"/>
              </a:defRPr>
            </a:pPr>
            <a:r>
              <a:t>Adaptive Kalman (beta updated each OOS step)</a:t>
            </a:r>
          </a:p>
          <a:p>
            <a:pPr>
              <a:defRPr sz="1200">
                <a:solidFill>
                  <a:srgbClr val="3C3C3C"/>
                </a:solidFill>
                <a:latin typeface="Calibri"/>
              </a:defRPr>
            </a:pPr>
            <a:r>
              <a:t>Prediction error ≈ white noise by construction → artificial mean-reversion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303520"/>
            <a:ext cx="5029200" cy="1005840"/>
          </a:xfrm>
          <a:prstGeom prst="roundRect">
            <a:avLst/>
          </a:prstGeom>
          <a:solidFill>
            <a:srgbClr val="E6FAEB"/>
          </a:solidFill>
          <a:ln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27AE60"/>
                </a:solidFill>
                <a:latin typeface="Calibri"/>
              </a:defRPr>
            </a:pPr>
            <a:r>
              <a:t>Fix: Kalman on calibration only → terminal beta</a:t>
            </a:r>
          </a:p>
          <a:p>
            <a:pPr>
              <a:defRPr sz="1200">
                <a:solidFill>
                  <a:srgbClr val="3C3C3C"/>
                </a:solidFill>
                <a:latin typeface="Calibri"/>
              </a:defRPr>
            </a:pPr>
            <a:r>
              <a:t>Fixed beta applied to OOS = honest test of mean-reversion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566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2452"/>
                </a:solidFill>
                <a:latin typeface="Calibri"/>
              </a:defRPr>
            </a:pPr>
            <a:r>
              <a:t>Top Enhanced Pairs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0" y="4114800"/>
          <a:ext cx="48463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731520"/>
                <a:gridCol w="1371600"/>
                <a:gridCol w="1371600"/>
              </a:tblGrid>
              <a:tr h="4267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Pair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Enhanced PnL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Kalman PnL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AMAT-TSM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intra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+30.30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+54.19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CVX-SU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intra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+13.16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+10.41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APLD-IREN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cross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+10.40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+9.47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RTX-SHEL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cross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+10.07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+13.87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HUT-RIOT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intra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+9.91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+5.65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1430000" y="64008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6464"/>
                </a:solidFill>
                <a:latin typeface="Calibri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452"/>
                </a:solidFill>
                <a:latin typeface="Calibri"/>
              </a:defRPr>
            </a:pPr>
            <a:r>
              <a:t>Walk-Forward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C3C3C"/>
                </a:solidFill>
                <a:latin typeface="Calibri"/>
              </a:defRPr>
            </a:pPr>
            <a:r>
              <a:t>5-split rolling calibration/OOS windows test whether performance persists across multiple temporal splits.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286000" y="2011680"/>
          <a:ext cx="66751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914400"/>
                <a:gridCol w="1371600"/>
                <a:gridCol w="1371600"/>
                <a:gridCol w="137160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Pair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Splits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Avg Sharpe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Std Sharpe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Total Trades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AFRM–ZETA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2.07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1.13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ENPH–RUN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1.82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COP–CVE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0.45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0.57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914400" y="4389120"/>
            <a:ext cx="4572000" cy="1828800"/>
          </a:xfrm>
          <a:prstGeom prst="roundRect">
            <a:avLst/>
          </a:prstGeom>
          <a:solidFill>
            <a:srgbClr val="E6FAEB"/>
          </a:solidFill>
          <a:ln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44805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7AE60"/>
                </a:solidFill>
                <a:latin typeface="Calibri"/>
              </a:defRPr>
            </a:pPr>
            <a:r>
              <a:t>AFRM–ZETA: Robust Signal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937760"/>
            <a:ext cx="411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C3C3C"/>
                </a:solidFill>
                <a:latin typeface="Calibri"/>
              </a:defRPr>
            </a:pPr>
            <a:r>
              <a:t>Sharpe 2.07 with moderate variance (std 1.13)</a:t>
            </a:r>
          </a:p>
          <a:p>
            <a:pPr>
              <a:spcAft>
                <a:spcPts val="600"/>
              </a:spcAft>
              <a:defRPr sz="1300">
                <a:solidFill>
                  <a:srgbClr val="3C3C3C"/>
                </a:solidFill>
                <a:latin typeface="Calibri"/>
              </a:defRPr>
            </a:pPr>
            <a:r>
              <a:t>Consistent across all 5 temporal splits</a:t>
            </a:r>
          </a:p>
          <a:p>
            <a:pPr>
              <a:spcAft>
                <a:spcPts val="600"/>
              </a:spcAft>
              <a:defRPr sz="1300">
                <a:solidFill>
                  <a:srgbClr val="3C3C3C"/>
                </a:solidFill>
                <a:latin typeface="Calibri"/>
              </a:defRPr>
            </a:pPr>
            <a:r>
              <a:t>11 total trades — statistically meaningful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389120"/>
            <a:ext cx="4572000" cy="1828800"/>
          </a:xfrm>
          <a:prstGeom prst="roundRect">
            <a:avLst/>
          </a:prstGeom>
          <a:solidFill>
            <a:srgbClr val="E6FAEB"/>
          </a:solidFill>
          <a:ln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44805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7AE60"/>
                </a:solidFill>
                <a:latin typeface="Calibri"/>
              </a:defRPr>
            </a:pPr>
            <a:r>
              <a:t>ENPH–RUN: Consistent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4937760"/>
            <a:ext cx="411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C3C3C"/>
                </a:solidFill>
                <a:latin typeface="Calibri"/>
              </a:defRPr>
            </a:pPr>
            <a:r>
              <a:t>Sharpe 1.82 with low variance (std 0.82)</a:t>
            </a:r>
          </a:p>
          <a:p>
            <a:pPr>
              <a:spcAft>
                <a:spcPts val="600"/>
              </a:spcAft>
              <a:defRPr sz="1300">
                <a:solidFill>
                  <a:srgbClr val="3C3C3C"/>
                </a:solidFill>
                <a:latin typeface="Calibri"/>
              </a:defRPr>
            </a:pPr>
            <a:r>
              <a:t>Solar energy pair — strong economic link</a:t>
            </a:r>
          </a:p>
          <a:p>
            <a:pPr>
              <a:spcAft>
                <a:spcPts val="600"/>
              </a:spcAft>
              <a:defRPr sz="1300">
                <a:solidFill>
                  <a:srgbClr val="3C3C3C"/>
                </a:solidFill>
                <a:latin typeface="Calibri"/>
              </a:defRPr>
            </a:pPr>
            <a:r>
              <a:t>6 trades — moderate confidence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008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6464"/>
                </a:solidFill>
                <a:latin typeface="Calibri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4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Statistical Significance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4C8DC"/>
                </a:solidFill>
                <a:latin typeface="Calibri"/>
              </a:defRPr>
            </a:pPr>
            <a:r>
              <a:t>1,148 pairs confirmed by permutation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6464"/>
                </a:solidFill>
                <a:latin typeface="Calibri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452"/>
                </a:solidFill>
                <a:latin typeface="Calibri"/>
              </a:defRPr>
            </a:pPr>
            <a:r>
              <a:t>Permutation Test: 1,148 Significant Pairs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C3C3C"/>
                </a:solidFill>
                <a:latin typeface="Calibri"/>
              </a:defRPr>
            </a:pPr>
            <a:r>
              <a:t>Feature-shuffle test: at 80 sampled timestamps × 30 permutations, shuffle feature vectors across tickers (preserving cross-feature correlation) and re-run the full pipeline. Compare observed co-clustering to null distribution.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103120"/>
            <a:ext cx="3200400" cy="731520"/>
          </a:xfrm>
          <a:prstGeom prst="roundRect">
            <a:avLst/>
          </a:prstGeom>
          <a:solidFill>
            <a:srgbClr val="F0F0F0"/>
          </a:solidFill>
          <a:ln>
            <a:solidFill>
              <a:srgbClr val="002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4884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2452"/>
                </a:solidFill>
                <a:latin typeface="Calibri"/>
              </a:defRPr>
            </a:pPr>
            <a:r>
              <a:t>3,539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21945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C3C3C"/>
                </a:solidFill>
                <a:latin typeface="Calibri"/>
              </a:defRPr>
            </a:pPr>
            <a:r>
              <a:t>pairs tested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2103120"/>
            <a:ext cx="3200400" cy="731520"/>
          </a:xfrm>
          <a:prstGeom prst="roundRect">
            <a:avLst/>
          </a:prstGeom>
          <a:solidFill>
            <a:srgbClr val="F0F0F0"/>
          </a:solidFill>
          <a:ln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0" y="214884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7AE60"/>
                </a:solidFill>
                <a:latin typeface="Calibri"/>
              </a:defRPr>
            </a:pPr>
            <a:r>
              <a:t>1,148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21945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C3C3C"/>
                </a:solidFill>
                <a:latin typeface="Calibri"/>
              </a:defRPr>
            </a:pPr>
            <a:r>
              <a:t>significant (Z &gt; 1.645)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2103120"/>
            <a:ext cx="3200400" cy="731520"/>
          </a:xfrm>
          <a:prstGeom prst="roundRect">
            <a:avLst/>
          </a:prstGeom>
          <a:solidFill>
            <a:srgbClr val="F0F0F0"/>
          </a:solidFill>
          <a:ln>
            <a:solidFill>
              <a:srgbClr val="B911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214884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91137"/>
                </a:solidFill>
                <a:latin typeface="Calibri"/>
              </a:defRPr>
            </a:pPr>
            <a:r>
              <a:t>671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21945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C3C3C"/>
                </a:solidFill>
                <a:latin typeface="Calibri"/>
              </a:defRPr>
            </a:pPr>
            <a:r>
              <a:t>significant AND tradeable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2743200" y="3017520"/>
          <a:ext cx="64008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371600"/>
                <a:gridCol w="2743200"/>
              </a:tblGrid>
              <a:tr h="315883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Pair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Z-Score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Sector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</a:tr>
              <a:tr h="315883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PBR–PBR-A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38.59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Energy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315883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AAL–DAL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38.19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Industrials</a:t>
                      </a:r>
                    </a:p>
                  </a:txBody>
                  <a:tcPr/>
                </a:tc>
              </a:tr>
              <a:tr h="315883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AAL–UAL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36.83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Industrials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315883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DAL–UAL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34.03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Industrials</a:t>
                      </a:r>
                    </a:p>
                  </a:txBody>
                  <a:tcPr/>
                </a:tc>
              </a:tr>
              <a:tr h="315883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HAL–SLB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32.08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Energy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315883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KMI–WMB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30.65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Energy</a:t>
                      </a:r>
                    </a:p>
                  </a:txBody>
                  <a:tcPr/>
                </a:tc>
              </a:tr>
              <a:tr h="315883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DVN–OXY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27.04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Energy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315883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CVX–XOM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26.86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Energy</a:t>
                      </a:r>
                    </a:p>
                  </a:txBody>
                  <a:tcPr/>
                </a:tc>
              </a:tr>
              <a:tr h="315883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SU–XOM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25.86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Energy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31589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AMAT–LRCX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25.13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Technology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1430000" y="64008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6464"/>
                </a:solidFill>
                <a:latin typeface="Calibri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452"/>
                </a:solidFill>
                <a:latin typeface="Calibri"/>
              </a:defRPr>
            </a:pPr>
            <a:r>
              <a:t>What We Learned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7AE60"/>
                </a:solidFill>
                <a:latin typeface="Calibri"/>
              </a:defRPr>
            </a:pPr>
            <a:r>
              <a:t>What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C3C3C"/>
                </a:solidFill>
                <a:latin typeface="Calibri"/>
              </a:defRPr>
            </a:pPr>
            <a:r>
              <a:t>Clustering discovers real economic relationships</a:t>
            </a:r>
          </a:p>
          <a:p>
            <a:pPr>
              <a:spcAft>
                <a:spcPts val="600"/>
              </a:spcAft>
              <a:defRPr sz="1500">
                <a:solidFill>
                  <a:srgbClr val="3C3C3C"/>
                </a:solidFill>
                <a:latin typeface="Calibri"/>
              </a:defRPr>
            </a:pPr>
            <a:r>
              <a:t>  — semiconductor subsectors, crypto mining clusters</a:t>
            </a:r>
          </a:p>
          <a:p>
            <a:pPr>
              <a:spcAft>
                <a:spcPts val="600"/>
              </a:spcAft>
              <a:defRPr sz="1500">
                <a:solidFill>
                  <a:srgbClr val="3C3C3C"/>
                </a:solidFill>
                <a:latin typeface="Calibri"/>
              </a:defRPr>
            </a:pPr>
            <a:r>
              <a:t>5-test framework: 59% tradeable vs 0% cointegration</a:t>
            </a:r>
          </a:p>
          <a:p>
            <a:pPr>
              <a:spcAft>
                <a:spcPts val="600"/>
              </a:spcAft>
              <a:defRPr sz="1500">
                <a:solidFill>
                  <a:srgbClr val="3C3C3C"/>
                </a:solidFill>
                <a:latin typeface="Calibri"/>
              </a:defRPr>
            </a:pPr>
            <a:r>
              <a:t>Kalman hedge: 64% profitable (vs 54% OLS baseline)</a:t>
            </a:r>
          </a:p>
          <a:p>
            <a:pPr>
              <a:spcAft>
                <a:spcPts val="600"/>
              </a:spcAft>
              <a:defRPr sz="1500">
                <a:solidFill>
                  <a:srgbClr val="3C3C3C"/>
                </a:solidFill>
                <a:latin typeface="Calibri"/>
              </a:defRPr>
            </a:pPr>
            <a:r>
              <a:t>Walk-forward validates top pairs across 5 splits</a:t>
            </a:r>
          </a:p>
          <a:p>
            <a:pPr>
              <a:spcAft>
                <a:spcPts val="600"/>
              </a:spcAft>
              <a:defRPr sz="1500">
                <a:solidFill>
                  <a:srgbClr val="3C3C3C"/>
                </a:solidFill>
                <a:latin typeface="Calibri"/>
              </a:defRPr>
            </a:pPr>
            <a:r>
              <a:t>1,148 pairs confirmed by permutation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B91137"/>
                </a:solidFill>
                <a:latin typeface="Calibri"/>
              </a:defRPr>
            </a:pPr>
            <a:r>
              <a:t>Limitations &amp; Honest 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73736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C3C3C"/>
                </a:solidFill>
                <a:latin typeface="Calibri"/>
              </a:defRPr>
            </a:pPr>
            <a:r>
              <a:t>Cross-sector pairs weaker (55.6% tradeable vs 64.1% intra)</a:t>
            </a:r>
          </a:p>
          <a:p>
            <a:pPr>
              <a:spcAft>
                <a:spcPts val="600"/>
              </a:spcAft>
              <a:defRPr sz="1500">
                <a:solidFill>
                  <a:srgbClr val="3C3C3C"/>
                </a:solidFill>
                <a:latin typeface="Calibri"/>
              </a:defRPr>
            </a:pPr>
            <a:r>
              <a:t>Short OOS (~68 days): 2–3 trades per pair</a:t>
            </a:r>
          </a:p>
          <a:p>
            <a:pPr>
              <a:spcAft>
                <a:spcPts val="600"/>
              </a:spcAft>
              <a:defRPr sz="1500">
                <a:solidFill>
                  <a:srgbClr val="3C3C3C"/>
                </a:solidFill>
                <a:latin typeface="Calibri"/>
              </a:defRPr>
            </a:pPr>
            <a:r>
              <a:t>Consensus ≠ profitability (Phase 1 finding)</a:t>
            </a:r>
          </a:p>
          <a:p>
            <a:pPr>
              <a:spcAft>
                <a:spcPts val="600"/>
              </a:spcAft>
              <a:defRPr sz="1500">
                <a:solidFill>
                  <a:srgbClr val="3C3C3C"/>
                </a:solidFill>
                <a:latin typeface="Calibri"/>
              </a:defRPr>
            </a:pPr>
            <a:r>
              <a:t>10bps flat cost is simplified (no slippage/impact)</a:t>
            </a:r>
          </a:p>
          <a:p>
            <a:pPr>
              <a:spcAft>
                <a:spcPts val="600"/>
              </a:spcAft>
              <a:defRPr sz="1500">
                <a:solidFill>
                  <a:srgbClr val="3C3C3C"/>
                </a:solidFill>
                <a:latin typeface="Calibri"/>
              </a:defRPr>
            </a:pPr>
            <a:r>
              <a:t>No portfolio-level risk management</a:t>
            </a:r>
          </a:p>
          <a:p>
            <a:pPr>
              <a:spcAft>
                <a:spcPts val="600"/>
              </a:spcAft>
              <a:defRPr sz="1500">
                <a:solidFill>
                  <a:srgbClr val="3C3C3C"/>
                </a:solidFill>
                <a:latin typeface="Calibri"/>
              </a:defRPr>
            </a:pPr>
            <a:r>
              <a:t>Only 50 of 2,148 tradeable pairs had enough trades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0" y="5029200"/>
            <a:ext cx="8229600" cy="1188720"/>
          </a:xfrm>
          <a:prstGeom prst="roundRect">
            <a:avLst/>
          </a:prstGeom>
          <a:solidFill>
            <a:srgbClr val="002452"/>
          </a:solidFill>
          <a:ln>
            <a:solidFill>
              <a:srgbClr val="002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The clustering methodology finds real structure — that's proven. The persistent pairs backtest</a:t>
            </a:r>
            <a:br/>
            <a:r>
              <a:t>validates the discovery engine. The real opportunity: trading transient formations as they happen.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008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6464"/>
                </a:solidFill>
                <a:latin typeface="Calibri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452"/>
                </a:solidFill>
                <a:latin typeface="Calibri"/>
              </a:defRPr>
            </a:pPr>
            <a:r>
              <a:t>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7AE60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11887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452"/>
                </a:solidFill>
                <a:latin typeface="Calibri"/>
              </a:defRPr>
            </a:pPr>
            <a:r>
              <a:t>Walk-Forward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0" y="118872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C3C3C"/>
                </a:solidFill>
                <a:latin typeface="Calibri"/>
              </a:defRPr>
            </a:pPr>
            <a:r>
              <a:t>5-split rolling cal/OOS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7AE60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8288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452"/>
                </a:solidFill>
                <a:latin typeface="Calibri"/>
              </a:defRPr>
            </a:pPr>
            <a:r>
              <a:t>Adaptive Hedge Ratios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182880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C3C3C"/>
                </a:solidFill>
                <a:latin typeface="Calibri"/>
              </a:defRPr>
            </a:pPr>
            <a:r>
              <a:t>Kalman terminal beta estimation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7AE60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4688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452"/>
                </a:solidFill>
                <a:latin typeface="Calibri"/>
              </a:defRPr>
            </a:pPr>
            <a:r>
              <a:t>Expanded Universe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4688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C3C3C"/>
                </a:solidFill>
                <a:latin typeface="Calibri"/>
              </a:defRPr>
            </a:pPr>
            <a:r>
              <a:t>142 tickers, 5 sectors via 3-layer screening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0895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7AE60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10895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452"/>
                </a:solidFill>
                <a:latin typeface="Calibri"/>
              </a:defRPr>
            </a:pPr>
            <a:r>
              <a:t>Transaction Costs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3108959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C3C3C"/>
                </a:solidFill>
                <a:latin typeface="Calibri"/>
              </a:defRPr>
            </a:pPr>
            <a:r>
              <a:t>10bps round-trip incorporated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74903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C3C3C"/>
                </a:solidFill>
                <a:latin typeface="Calibri"/>
              </a:defRPr>
            </a:pPr>
            <a:r>
              <a:t>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74903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452"/>
                </a:solidFill>
                <a:latin typeface="Calibri"/>
              </a:defRPr>
            </a:pPr>
            <a:r>
              <a:t>Transient Event Trading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3749039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C3C3C"/>
                </a:solidFill>
                <a:latin typeface="Calibri"/>
              </a:defRPr>
            </a:pPr>
            <a:r>
              <a:t>Trade formation/dissolution events directly — the core application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89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C3C3C"/>
                </a:solidFill>
                <a:latin typeface="Calibri"/>
              </a:defRPr>
            </a:pPr>
            <a:r>
              <a:t>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3891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452"/>
                </a:solidFill>
                <a:latin typeface="Calibri"/>
              </a:defRPr>
            </a:pPr>
            <a:r>
              <a:t>Real-Time Pipeline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438912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C3C3C"/>
                </a:solidFill>
                <a:latin typeface="Calibri"/>
              </a:defRPr>
            </a:pPr>
            <a:r>
              <a:t>Live clustering → formation detection → signal generation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02919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C3C3C"/>
                </a:solidFill>
                <a:latin typeface="Calibri"/>
              </a:defRPr>
            </a:pPr>
            <a:r>
              <a:t>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502919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452"/>
                </a:solidFill>
                <a:latin typeface="Calibri"/>
              </a:defRPr>
            </a:pPr>
            <a:r>
              <a:t>Portfolio Optimization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5029199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C3C3C"/>
                </a:solidFill>
                <a:latin typeface="Calibri"/>
              </a:defRPr>
            </a:pPr>
            <a:r>
              <a:t>Correlated pairs risk management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66927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C3C3C"/>
                </a:solidFill>
                <a:latin typeface="Calibri"/>
              </a:defRPr>
            </a:pPr>
            <a:r>
              <a:t>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566927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452"/>
                </a:solidFill>
                <a:latin typeface="Calibri"/>
              </a:defRPr>
            </a:pPr>
            <a:r>
              <a:t>Longer Historical Data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03520" y="5669279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C3C3C"/>
                </a:solidFill>
                <a:latin typeface="Calibri"/>
              </a:defRPr>
            </a:pPr>
            <a:r>
              <a:t>Multi-year hourly data for robust estimation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0" y="64008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6464"/>
                </a:solidFill>
                <a:latin typeface="Calibri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4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8404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ABD00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4C8DC"/>
                </a:solidFill>
                <a:latin typeface="Calibri"/>
              </a:defRPr>
            </a:pPr>
            <a:r>
              <a:t>Queen's Quant Club  |  February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6464"/>
                </a:solidFill>
                <a:latin typeface="Calibri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