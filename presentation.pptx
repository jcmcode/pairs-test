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Detecting and Predicting</a:t>
            </a:r>
            <a:endParaRPr lang="en-US" sz="3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Transient Correlation Formations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Study: OPTICS, K-Means &amp; DBScan</a:t>
            </a:r>
            <a:endParaRPr lang="en-US" sz="1800" dirty="0"/>
          </a:p>
          <a:p>
            <a:pPr algn="l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Semiconductor Sector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749040"/>
            <a:ext cx="27432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Queen's University Quant Club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TODO: Member Names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64592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12161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0" y="12161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transient correlations matter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17190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Feature Engineering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17190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Semiconductor universe and feature design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24028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22219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Methods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22219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OPTICS, K-Means, and DBScan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274320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27249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Framework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0" y="27249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Persistence, mean reversion, bounce rate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24612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88720" y="32278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Models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32278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&amp; Gradient Boosting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37490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88720" y="37307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Comparison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0" y="37307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method evaluation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42519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88720" y="42336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Future Work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572000" y="42336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 and next steps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64592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37490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64008" cy="3291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4173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Pairs Trading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82880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TODO: Explain limitations of traditional cointegration-based pairs trading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 to cover: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long-term stationarity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event-driven opportunities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to adapt to regime changes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7490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280160"/>
            <a:ext cx="64008" cy="32918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4173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74920" y="182880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TODO: Explain transient correlation detection approach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 to cover: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short-lived, event-driven correlations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algorithms for regime detection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modelling for formations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Asset Universe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64592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5029200" cy="1005840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2344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Semiconductor Sector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Daily OHLCV via Yahoo Finance | TODO: Specify date range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737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(^GSPC) used as market reference for beta and correlation features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68880"/>
          <a:ext cx="5029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 Chip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NVDA, TSM, AMD, INTC, AVGO, QCOM, ASML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MU, WDC, STX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/ 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ARM, SNPS, CDNS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035040" y="123444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17920" y="1371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TODO: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17920" y="173736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correlation heatmap or descriptive statistics chart here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64592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21945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21945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Returns, ROC, MACD, RSI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0" y="1234440"/>
            <a:ext cx="21945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08960" y="1234440"/>
            <a:ext cx="21945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91840" y="17830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Vol, ATR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77840" y="1234440"/>
            <a:ext cx="21945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577840" y="1234440"/>
            <a:ext cx="21945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760720" y="17830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Beta, Pairwise Rolling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2971800"/>
            <a:ext cx="21945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2971800"/>
            <a:ext cx="21945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35204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Distance (20d, 50d), Highs/Lows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08960" y="2971800"/>
            <a:ext cx="21945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08960" y="2971800"/>
            <a:ext cx="21945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291840" y="35204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Bollinger %B, Stochastic, Williams %R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577840" y="2971800"/>
            <a:ext cx="2194560" cy="1463040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25" name="Text 23"/>
          <p:cNvSpPr/>
          <p:nvPr/>
        </p:nvSpPr>
        <p:spPr>
          <a:xfrm>
            <a:off x="5760720" y="3154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15+ Features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760720" y="3657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normalised per timestamp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OPTICS Clustering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64592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4389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Points To Identify the Clustering Structure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TODO: Add description of OPTICS algorithm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variable-density clusters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pre-specify number of clusters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noise labels for unclustered stocks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transient, varying-strength relationships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1143000"/>
            <a:ext cx="32004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0" y="1234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600200"/>
          <a:ext cx="28346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min_samples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xi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min_cluster_size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303520" y="2834640"/>
            <a:ext cx="32004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0" y="30175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TODO: Insert reachability plot or cluster visualisation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K-Means Clustering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64592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4389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TODO: Add description of K-Means algorithm and implementation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Centroid-based, iterative assignment and update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specifying k (number of clusters) in advance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every point to a cluster (no noise label)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roughly spherical clusters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1143000"/>
            <a:ext cx="32004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0" y="1280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0" y="1645920"/>
            <a:ext cx="2834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elbow method plot and/or silhouette analysis showing optimal k selection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DBScan Clustering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64592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4389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TODO: Add description of DBScan algorithm and implementation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Density-based with fixed eps neighbourhood radius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noise labels like OPTICS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eps parameter choice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handle variable-density as well as OPTICS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1143000"/>
            <a:ext cx="32004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0" y="1280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0" y="1645920"/>
            <a:ext cx="2834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k-distance graph used for eps parameter tuning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Formation &amp; Dissolution Detection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64592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88720"/>
            <a:ext cx="78638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TODO: Insert formation/dissolution timeline diagram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example: Stock A &amp; Stock B cluster assignments over time, highlighting the transition points where they enter and leave the same cluster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3749040" cy="1371600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429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Event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794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transitions from different clusters to the same cluster at time 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291840"/>
            <a:ext cx="3749040" cy="1371600"/>
          </a:xfrm>
          <a:prstGeom prst="rect">
            <a:avLst/>
          </a:prstGeom>
          <a:solidFill>
            <a:srgbClr val="2C3258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3429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Dissolution Event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3794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transitions from the same cluster to different clusters at time 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Framework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64592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88720"/>
            <a:ext cx="3749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37490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371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Persistence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737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time pair stays co-clustered over rolling window 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3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TODO: Add formula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3749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88720"/>
            <a:ext cx="37490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371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AR(1) Coefficient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1737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reversion speed of the beta-hedged spread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2194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3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TODO: Add formula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926080"/>
            <a:ext cx="3749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926080"/>
            <a:ext cx="37490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108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Bounce Rate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3474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spread excursions reverting &gt;= 30% within 2 periods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931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3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TODO: Add formula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926080"/>
            <a:ext cx="3749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926080"/>
            <a:ext cx="37490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108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92040" y="3474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x Bounce Rate x Significance — filters tradeable pairs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3931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3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TODO: Add formula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 Models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64592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88720"/>
            <a:ext cx="3749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374904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234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TODO: Add Random Forest description and results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 that vote on prediction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non-linear relationships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feature importance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train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749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3749040" cy="502920"/>
          </a:xfrm>
          <a:prstGeom prst="rect">
            <a:avLst/>
          </a:prstGeom>
          <a:solidFill>
            <a:srgbClr val="252B52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234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182880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TODO: Add Gradient Boosting description and results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trees, each correcting prior errors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higher accuracy than RF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patterns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hyperparameters to tune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Method Comparison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64592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DBScan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Clusters / Timestamp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6B7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6B7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6B7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Formations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6B7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6B7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6B7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Tradeable Pairs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6B7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6B7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6B7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Cluster Persistence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6B7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6B7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6B7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Bounce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6B7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6B7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6B7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 AUC (RF)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6B7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6B7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6B7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 AUC (GB)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6B7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6B7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6B7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 Points (%)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6B7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6B7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6B7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Visualisations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64592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88720"/>
            <a:ext cx="3749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TODO: Random Forest &amp; Gradient Boosting ROC curves with AUC scores for each clustering method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3749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6459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TODO: Bar chart of top features ranked by importance from the best-performing model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3749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063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Attribution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3832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TODO: Z-score bar chart showing which features are most unusual at formation times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926080"/>
            <a:ext cx="3749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3063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Precision-Recall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33832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TODO: Precision-recall curves highlighting the precision/recall trade-off for each method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64592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TODO: Fill in key findings after all results are compiled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structure: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clustering method best captures transient correlations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predictive features (RSI, correlation, etc.)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AUC ranges and practical significance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Tradeable pair hit rate after validation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Semiconductor sector suitability for this approach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Future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64592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88720"/>
            <a:ext cx="3749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3749040" cy="4572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78308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TODO: Fill in after analysis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costs not modelled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sector (semiconductors)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prediction AUC (~0.60-0.75)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frequency only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may introduce bias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749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374904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178308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TODO: Fill in after analysis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deployment and live testing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Multi-timeframe (hourly + daily)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expansion beyond semis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backtest with transaction costs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all three methods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801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0" y="2560320"/>
            <a:ext cx="27432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Queen's Quant Club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TODO: Add contact info or GitHub link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Transient Correlation Detection via Clustering</dc:title>
  <dc:subject>PptxGenJS Presentation</dc:subject>
  <dc:creator>Queen's Quant Club</dc:creator>
  <cp:lastModifiedBy>Queen's Quant Club</cp:lastModifiedBy>
  <cp:revision>1</cp:revision>
  <dcterms:created xsi:type="dcterms:W3CDTF">2026-02-08T22:13:35Z</dcterms:created>
  <dcterms:modified xsi:type="dcterms:W3CDTF">2026-02-08T22:13:35Z</dcterms:modified>
</cp:coreProperties>
</file>